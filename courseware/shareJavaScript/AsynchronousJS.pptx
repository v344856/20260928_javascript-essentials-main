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743" r:id="rId2"/>
    <p:sldId id="744" r:id="rId3"/>
    <p:sldId id="745" r:id="rId4"/>
    <p:sldId id="746" r:id="rId5"/>
    <p:sldId id="747" r:id="rId6"/>
    <p:sldId id="748" r:id="rId7"/>
    <p:sldId id="749" r:id="rId8"/>
    <p:sldId id="750" r:id="rId9"/>
    <p:sldId id="317" r:id="rId10"/>
    <p:sldId id="751" r:id="rId11"/>
    <p:sldId id="316" r:id="rId12"/>
    <p:sldId id="752" r:id="rId13"/>
    <p:sldId id="753" r:id="rId14"/>
    <p:sldId id="657" r:id="rId15"/>
    <p:sldId id="754" r:id="rId16"/>
    <p:sldId id="755" r:id="rId17"/>
    <p:sldId id="756" r:id="rId18"/>
    <p:sldId id="314" r:id="rId19"/>
    <p:sldId id="757" r:id="rId20"/>
    <p:sldId id="6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21A8DC-8B56-45FD-BC66-FF445B3F67E8}"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D79D78-F8D4-44A5-B21F-0F2BBC0D0289}" type="slidenum">
              <a:rPr lang="en-US" smtClean="0"/>
              <a:t>‹#›</a:t>
            </a:fld>
            <a:endParaRPr lang="en-US"/>
          </a:p>
        </p:txBody>
      </p:sp>
    </p:spTree>
    <p:extLst>
      <p:ext uri="{BB962C8B-B14F-4D97-AF65-F5344CB8AC3E}">
        <p14:creationId xmlns:p14="http://schemas.microsoft.com/office/powerpoint/2010/main" val="751921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Notes:</a:t>
            </a:r>
          </a:p>
        </p:txBody>
      </p:sp>
      <p:sp>
        <p:nvSpPr>
          <p:cNvPr id="4" name="Slide Number Placeholder 3"/>
          <p:cNvSpPr>
            <a:spLocks noGrp="1"/>
          </p:cNvSpPr>
          <p:nvPr>
            <p:ph type="sldNum" sz="quarter" idx="5"/>
          </p:nvPr>
        </p:nvSpPr>
        <p:spPr/>
        <p:txBody>
          <a:bodyPr/>
          <a:lstStyle/>
          <a:p>
            <a:fld id="{C528DD48-E94E-4075-98E3-1BE9A1631110}" type="slidenum">
              <a:rPr lang="en-CA" smtClean="0"/>
              <a:t>1</a:t>
            </a:fld>
            <a:endParaRPr lang="en-CA"/>
          </a:p>
        </p:txBody>
      </p:sp>
      <p:sp>
        <p:nvSpPr>
          <p:cNvPr id="5" name="Footer Placeholder 4">
            <a:extLst>
              <a:ext uri="{FF2B5EF4-FFF2-40B4-BE49-F238E27FC236}">
                <a16:creationId xmlns:a16="http://schemas.microsoft.com/office/drawing/2014/main" id="{BCAD0930-E02A-4C45-9A4A-61018B81DA6C}"/>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B52A9865-558C-4565-9249-941B56A89430}"/>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399346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p>
        </p:txBody>
      </p:sp>
      <p:sp>
        <p:nvSpPr>
          <p:cNvPr id="4" name="Slide Number Placeholder 3"/>
          <p:cNvSpPr>
            <a:spLocks noGrp="1"/>
          </p:cNvSpPr>
          <p:nvPr>
            <p:ph type="sldNum" sz="quarter" idx="5"/>
          </p:nvPr>
        </p:nvSpPr>
        <p:spPr/>
        <p:txBody>
          <a:bodyPr/>
          <a:lstStyle/>
          <a:p>
            <a:fld id="{2118C24E-E07F-4A76-9F4F-0D2A4F88715B}" type="slidenum">
              <a:rPr lang="en-CA" smtClean="0"/>
              <a:t>2</a:t>
            </a:fld>
            <a:endParaRPr lang="en-CA"/>
          </a:p>
        </p:txBody>
      </p:sp>
      <p:sp>
        <p:nvSpPr>
          <p:cNvPr id="5" name="Footer Placeholder 4">
            <a:extLst>
              <a:ext uri="{FF2B5EF4-FFF2-40B4-BE49-F238E27FC236}">
                <a16:creationId xmlns:a16="http://schemas.microsoft.com/office/drawing/2014/main" id="{9D4BBD67-D5D9-4DB4-B99A-9FC0C49D948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61EBF06A-AC3A-4CBE-A494-D7AEDC85649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131134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a:t>JavaScript engine is single threaded, it can only process one statement at a time</a:t>
            </a:r>
          </a:p>
          <a:p>
            <a:pPr marL="181240" indent="-181240">
              <a:buFont typeface="Arial" panose="020B0604020202020204" pitchFamily="34" charset="0"/>
              <a:buChar char="•"/>
            </a:pPr>
            <a:r>
              <a:rPr lang="en-US" b="0"/>
              <a:t>Using </a:t>
            </a:r>
            <a:r>
              <a:rPr lang="en-US" sz="1300"/>
              <a:t>asynchronous JavaScript (such as callbacks, promises, and async/await), you can perform long network requests without blocking the main thread</a:t>
            </a:r>
            <a:endParaRPr lang="en-US" b="0"/>
          </a:p>
        </p:txBody>
      </p:sp>
      <p:sp>
        <p:nvSpPr>
          <p:cNvPr id="4" name="Slide Number Placeholder 3"/>
          <p:cNvSpPr>
            <a:spLocks noGrp="1"/>
          </p:cNvSpPr>
          <p:nvPr>
            <p:ph type="sldNum" sz="quarter" idx="5"/>
          </p:nvPr>
        </p:nvSpPr>
        <p:spPr/>
        <p:txBody>
          <a:bodyPr/>
          <a:lstStyle/>
          <a:p>
            <a:fld id="{2118C24E-E07F-4A76-9F4F-0D2A4F88715B}" type="slidenum">
              <a:rPr lang="en-CA" smtClean="0"/>
              <a:t>3</a:t>
            </a:fld>
            <a:endParaRPr lang="en-CA"/>
          </a:p>
        </p:txBody>
      </p:sp>
      <p:sp>
        <p:nvSpPr>
          <p:cNvPr id="5" name="Footer Placeholder 4">
            <a:extLst>
              <a:ext uri="{FF2B5EF4-FFF2-40B4-BE49-F238E27FC236}">
                <a16:creationId xmlns:a16="http://schemas.microsoft.com/office/drawing/2014/main" id="{AE755BAF-4D0E-48AE-AEC9-9021393DAFD8}"/>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502627DE-A0D4-4735-8294-5BA90BABF6A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946555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https://www.sohamkamani.com/blog/2016/03/14/wrapping-your-head-around-async-programming/</a:t>
            </a:r>
          </a:p>
          <a:p>
            <a:endParaRPr lang="en-CA" dirty="0"/>
          </a:p>
        </p:txBody>
      </p:sp>
      <p:sp>
        <p:nvSpPr>
          <p:cNvPr id="4" name="Slide Number Placeholder 3"/>
          <p:cNvSpPr>
            <a:spLocks noGrp="1"/>
          </p:cNvSpPr>
          <p:nvPr>
            <p:ph type="sldNum" sz="quarter" idx="5"/>
          </p:nvPr>
        </p:nvSpPr>
        <p:spPr/>
        <p:txBody>
          <a:bodyPr/>
          <a:lstStyle/>
          <a:p>
            <a:fld id="{2118C24E-E07F-4A76-9F4F-0D2A4F88715B}" type="slidenum">
              <a:rPr lang="en-CA" smtClean="0"/>
              <a:t>4</a:t>
            </a:fld>
            <a:endParaRPr lang="en-CA"/>
          </a:p>
        </p:txBody>
      </p:sp>
      <p:sp>
        <p:nvSpPr>
          <p:cNvPr id="5" name="Footer Placeholder 4">
            <a:extLst>
              <a:ext uri="{FF2B5EF4-FFF2-40B4-BE49-F238E27FC236}">
                <a16:creationId xmlns:a16="http://schemas.microsoft.com/office/drawing/2014/main" id="{5807C47F-13F0-480B-8AE1-3DEAEA191DDF}"/>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3028437C-E64B-40DA-B1C7-F71AD000FBF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052034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https://www.sohamkamani.com/blog/2016/03/14/wrapping-your-head-around-async-programming/</a:t>
            </a:r>
          </a:p>
          <a:p>
            <a:endParaRPr lang="en-CA" dirty="0"/>
          </a:p>
        </p:txBody>
      </p:sp>
      <p:sp>
        <p:nvSpPr>
          <p:cNvPr id="4" name="Slide Number Placeholder 3"/>
          <p:cNvSpPr>
            <a:spLocks noGrp="1"/>
          </p:cNvSpPr>
          <p:nvPr>
            <p:ph type="sldNum" sz="quarter" idx="5"/>
          </p:nvPr>
        </p:nvSpPr>
        <p:spPr/>
        <p:txBody>
          <a:bodyPr/>
          <a:lstStyle/>
          <a:p>
            <a:fld id="{2118C24E-E07F-4A76-9F4F-0D2A4F88715B}" type="slidenum">
              <a:rPr lang="en-CA" smtClean="0"/>
              <a:t>5</a:t>
            </a:fld>
            <a:endParaRPr lang="en-CA"/>
          </a:p>
        </p:txBody>
      </p:sp>
      <p:sp>
        <p:nvSpPr>
          <p:cNvPr id="5" name="Footer Placeholder 4">
            <a:extLst>
              <a:ext uri="{FF2B5EF4-FFF2-40B4-BE49-F238E27FC236}">
                <a16:creationId xmlns:a16="http://schemas.microsoft.com/office/drawing/2014/main" id="{E930F2F4-5A4B-4688-9A28-9A530B9ADB26}"/>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CA324D8F-5CDC-446B-B149-0349E0691D6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680349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endParaRPr lang="en-CA" dirty="0"/>
          </a:p>
        </p:txBody>
      </p:sp>
      <p:sp>
        <p:nvSpPr>
          <p:cNvPr id="4" name="Slide Number Placeholder 3"/>
          <p:cNvSpPr>
            <a:spLocks noGrp="1"/>
          </p:cNvSpPr>
          <p:nvPr>
            <p:ph type="sldNum" sz="quarter" idx="5"/>
          </p:nvPr>
        </p:nvSpPr>
        <p:spPr/>
        <p:txBody>
          <a:bodyPr/>
          <a:lstStyle/>
          <a:p>
            <a:fld id="{8EDC75FD-C286-41FA-AFDE-5B5A8636BC1A}" type="slidenum">
              <a:rPr lang="en-CA" smtClean="0"/>
              <a:t>6</a:t>
            </a:fld>
            <a:endParaRPr lang="en-CA"/>
          </a:p>
        </p:txBody>
      </p:sp>
      <p:sp>
        <p:nvSpPr>
          <p:cNvPr id="5" name="Notes Placeholder 2">
            <a:extLst>
              <a:ext uri="{FF2B5EF4-FFF2-40B4-BE49-F238E27FC236}">
                <a16:creationId xmlns:a16="http://schemas.microsoft.com/office/drawing/2014/main" id="{5DDF9865-D34F-4DA7-936D-AD9B95CCA36F}"/>
              </a:ext>
            </a:extLst>
          </p:cNvPr>
          <p:cNvSpPr txBox="1">
            <a:spLocks/>
          </p:cNvSpPr>
          <p:nvPr/>
        </p:nvSpPr>
        <p:spPr>
          <a:xfrm>
            <a:off x="731521" y="4719052"/>
            <a:ext cx="5852160" cy="3780473"/>
          </a:xfrm>
          <a:prstGeom prst="rect">
            <a:avLst/>
          </a:prstGeom>
        </p:spPr>
        <p:txBody>
          <a:bodyPr vert="horz" lIns="96661" tIns="48331" rIns="96661" bIns="48331"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r>
              <a:rPr lang="en-CA"/>
              <a:t>Notes:</a:t>
            </a:r>
          </a:p>
        </p:txBody>
      </p:sp>
      <p:sp>
        <p:nvSpPr>
          <p:cNvPr id="6" name="Footer Placeholder 5">
            <a:extLst>
              <a:ext uri="{FF2B5EF4-FFF2-40B4-BE49-F238E27FC236}">
                <a16:creationId xmlns:a16="http://schemas.microsoft.com/office/drawing/2014/main" id="{79FC4D8B-E280-4104-8D1A-DD9AB9DCECC3}"/>
              </a:ext>
            </a:extLst>
          </p:cNvPr>
          <p:cNvSpPr>
            <a:spLocks noGrp="1"/>
          </p:cNvSpPr>
          <p:nvPr>
            <p:ph type="ftr" sz="quarter" idx="4"/>
          </p:nvPr>
        </p:nvSpPr>
        <p:spPr/>
        <p:txBody>
          <a:bodyPr/>
          <a:lstStyle/>
          <a:p>
            <a:r>
              <a:rPr lang="en-CA"/>
              <a:t>Copyright @ 2024 ProTech Professional Technical Services, Inc.</a:t>
            </a:r>
          </a:p>
        </p:txBody>
      </p:sp>
      <p:sp>
        <p:nvSpPr>
          <p:cNvPr id="7" name="Header Placeholder 6">
            <a:extLst>
              <a:ext uri="{FF2B5EF4-FFF2-40B4-BE49-F238E27FC236}">
                <a16:creationId xmlns:a16="http://schemas.microsoft.com/office/drawing/2014/main" id="{46543210-537D-4B13-A91E-FB662B5CFA9B}"/>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826934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11_async/snippets/asynchronous.js</a:t>
            </a:r>
          </a:p>
          <a:p>
            <a:endParaRPr lang="en-CA" dirty="0"/>
          </a:p>
          <a:p>
            <a:r>
              <a:rPr lang="en-CA" dirty="0"/>
              <a:t>Output:</a:t>
            </a:r>
          </a:p>
          <a:p>
            <a:pPr defTabSz="966612">
              <a:defRPr/>
            </a:pPr>
            <a:r>
              <a:rPr lang="en-CA" dirty="0"/>
              <a:t>This will be displayed first</a:t>
            </a:r>
          </a:p>
          <a:p>
            <a:r>
              <a:rPr lang="en-CA" dirty="0"/>
              <a:t>Hello anonymous function</a:t>
            </a:r>
          </a:p>
          <a:p>
            <a:r>
              <a:rPr lang="en-CA" dirty="0" err="1"/>
              <a:t>displayHello</a:t>
            </a:r>
            <a:r>
              <a:rPr lang="en-CA" dirty="0"/>
              <a:t> function</a:t>
            </a:r>
          </a:p>
          <a:p>
            <a:r>
              <a:rPr lang="en-CA" dirty="0"/>
              <a:t>hello arrow</a:t>
            </a:r>
          </a:p>
          <a:p>
            <a:endParaRPr lang="en-CA" dirty="0"/>
          </a:p>
          <a:p>
            <a:pPr marL="241653" indent="-241653">
              <a:buFont typeface="+mj-lt"/>
              <a:buAutoNum type="arabicPeriod"/>
            </a:pPr>
            <a:r>
              <a:rPr lang="en-CA" dirty="0"/>
              <a:t>Define an anonymous function within the </a:t>
            </a:r>
            <a:r>
              <a:rPr lang="en-CA" dirty="0" err="1"/>
              <a:t>setTimeout</a:t>
            </a:r>
            <a:r>
              <a:rPr lang="en-CA" dirty="0"/>
              <a:t>() function.  Take note that it is the callback function in the first argument as </a:t>
            </a:r>
            <a:r>
              <a:rPr lang="en-CA" dirty="0" err="1"/>
              <a:t>setTimeout</a:t>
            </a:r>
            <a:r>
              <a:rPr lang="en-CA" dirty="0"/>
              <a:t>() function</a:t>
            </a:r>
          </a:p>
          <a:p>
            <a:pPr marL="241653" indent="-241653">
              <a:buFont typeface="+mj-lt"/>
              <a:buAutoNum type="arabicPeriod"/>
            </a:pPr>
            <a:r>
              <a:rPr lang="en-CA" dirty="0"/>
              <a:t>Define a function called </a:t>
            </a:r>
            <a:r>
              <a:rPr lang="en-CA" dirty="0" err="1"/>
              <a:t>displayHello</a:t>
            </a:r>
            <a:r>
              <a:rPr lang="en-CA" dirty="0"/>
              <a:t>(). Then pass </a:t>
            </a:r>
            <a:r>
              <a:rPr lang="en-CA" dirty="0" err="1"/>
              <a:t>displayHello</a:t>
            </a:r>
            <a:r>
              <a:rPr lang="en-CA" dirty="0"/>
              <a:t> as the first argument to </a:t>
            </a:r>
            <a:r>
              <a:rPr lang="en-CA" dirty="0" err="1"/>
              <a:t>setTimeout</a:t>
            </a:r>
            <a:r>
              <a:rPr lang="en-CA" dirty="0"/>
              <a:t> function()</a:t>
            </a:r>
          </a:p>
          <a:p>
            <a:pPr marL="241653" indent="-241653">
              <a:buFont typeface="+mj-lt"/>
              <a:buAutoNum type="arabicPeriod"/>
            </a:pPr>
            <a:r>
              <a:rPr lang="en-CA" dirty="0"/>
              <a:t>Use the arrow function to implement the first argument of </a:t>
            </a:r>
            <a:r>
              <a:rPr lang="en-CA" dirty="0" err="1"/>
              <a:t>setTimeout</a:t>
            </a:r>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7</a:t>
            </a:fld>
            <a:endParaRPr lang="en-CA"/>
          </a:p>
        </p:txBody>
      </p:sp>
      <p:sp>
        <p:nvSpPr>
          <p:cNvPr id="6" name="Header Placeholder 5">
            <a:extLst>
              <a:ext uri="{FF2B5EF4-FFF2-40B4-BE49-F238E27FC236}">
                <a16:creationId xmlns:a16="http://schemas.microsoft.com/office/drawing/2014/main" id="{636FF358-CDDD-4F6F-BDA2-13272CC0D0C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634707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t>A promise is an object which can be returned synchronously from an asynchronous function. It will be in one of 3 possible states:</a:t>
            </a:r>
          </a:p>
          <a:p>
            <a:pPr marL="181240" indent="-181240">
              <a:buFont typeface="Arial" panose="020B0604020202020204" pitchFamily="34" charset="0"/>
              <a:buChar char="•"/>
            </a:pPr>
            <a:r>
              <a:rPr lang="en-US" sz="1300"/>
              <a:t>Fulfilled: </a:t>
            </a:r>
            <a:r>
              <a:rPr lang="en-US" sz="1300" err="1"/>
              <a:t>onFulfilled</a:t>
            </a:r>
            <a:r>
              <a:rPr lang="en-US" sz="1300"/>
              <a:t>() will be called (e.g., resolve() was called)</a:t>
            </a:r>
          </a:p>
          <a:p>
            <a:pPr marL="181240" indent="-181240">
              <a:buFont typeface="Arial" panose="020B0604020202020204" pitchFamily="34" charset="0"/>
              <a:buChar char="•"/>
            </a:pPr>
            <a:r>
              <a:rPr lang="en-US" sz="1300"/>
              <a:t>Rejected: </a:t>
            </a:r>
            <a:r>
              <a:rPr lang="en-US" sz="1300" err="1"/>
              <a:t>onRejected</a:t>
            </a:r>
            <a:r>
              <a:rPr lang="en-US" sz="1300"/>
              <a:t>() will be called (e.g., reject() was called)</a:t>
            </a:r>
          </a:p>
          <a:p>
            <a:pPr marL="181240" indent="-181240">
              <a:buFont typeface="Arial" panose="020B0604020202020204" pitchFamily="34" charset="0"/>
              <a:buChar char="•"/>
            </a:pPr>
            <a:r>
              <a:rPr lang="en-US" sz="1300"/>
              <a:t>Pending: not yet fulfilled or rejected</a:t>
            </a:r>
          </a:p>
        </p:txBody>
      </p:sp>
      <p:sp>
        <p:nvSpPr>
          <p:cNvPr id="4" name="Slide Number Placeholder 3"/>
          <p:cNvSpPr>
            <a:spLocks noGrp="1"/>
          </p:cNvSpPr>
          <p:nvPr>
            <p:ph type="sldNum" sz="quarter" idx="5"/>
          </p:nvPr>
        </p:nvSpPr>
        <p:spPr/>
        <p:txBody>
          <a:bodyPr/>
          <a:lstStyle/>
          <a:p>
            <a:fld id="{164377C5-5F89-43AD-BF72-9B51ECAEB898}" type="slidenum">
              <a:rPr lang="en-CA" smtClean="0"/>
              <a:t>8</a:t>
            </a:fld>
            <a:endParaRPr lang="en-CA"/>
          </a:p>
        </p:txBody>
      </p:sp>
      <p:sp>
        <p:nvSpPr>
          <p:cNvPr id="5" name="Footer Placeholder 4">
            <a:extLst>
              <a:ext uri="{FF2B5EF4-FFF2-40B4-BE49-F238E27FC236}">
                <a16:creationId xmlns:a16="http://schemas.microsoft.com/office/drawing/2014/main" id="{0DA2E14E-6C3E-42C8-A82F-14C93D1CD315}"/>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58C7453D-81EB-4CBE-A92B-1E62E8673EE1}"/>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481605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11_async/snippets/createPromise.js – Do not run.</a:t>
            </a:r>
          </a:p>
          <a:p>
            <a:endParaRPr lang="en-US" sz="1300" dirty="0"/>
          </a:p>
          <a:p>
            <a:r>
              <a:rPr lang="en-US" sz="1300" dirty="0"/>
              <a:t>When new Promise is created, the executor runs automatically. It contains the producing code which should eventually produce the result.  The arguments resolve and reject are callbacks provided by JavaScript itself.</a:t>
            </a:r>
          </a:p>
          <a:p>
            <a:r>
              <a:rPr lang="en-US" sz="1300" dirty="0"/>
              <a:t>When the executor obtains the result, be it soon or late, It calls one of these callbacks:</a:t>
            </a:r>
          </a:p>
          <a:p>
            <a:pPr marL="181240" indent="-181240">
              <a:buFont typeface="Arial" panose="020B0604020202020204" pitchFamily="34" charset="0"/>
              <a:buChar char="•"/>
            </a:pPr>
            <a:r>
              <a:rPr lang="en-US" sz="1300" dirty="0"/>
              <a:t>resolve(value) — if the job finished successfully, with result value.</a:t>
            </a:r>
          </a:p>
          <a:p>
            <a:pPr marL="181240" indent="-181240">
              <a:buFont typeface="Arial" panose="020B0604020202020204" pitchFamily="34" charset="0"/>
              <a:buChar char="•"/>
            </a:pPr>
            <a:r>
              <a:rPr lang="en-US" sz="1300" dirty="0"/>
              <a:t>reject(error) — if an error occurred, error is the error object.</a:t>
            </a:r>
          </a:p>
          <a:p>
            <a:r>
              <a:rPr lang="en-US" sz="1300" dirty="0"/>
              <a:t>So to summarize: the executor runs automatically and attempts to perform a job. When it is finished with the attempt it calls resolve if it was successful or reject if there was an error.</a:t>
            </a:r>
          </a:p>
          <a:p>
            <a:pPr marL="181240" indent="-181240">
              <a:buFont typeface="Arial" panose="020B0604020202020204" pitchFamily="34" charset="0"/>
              <a:buChar char="•"/>
            </a:pPr>
            <a:r>
              <a:rPr lang="en-US" sz="1300" dirty="0"/>
              <a:t>The promise object returned by the new Promise constructor has these internal properties</a:t>
            </a:r>
          </a:p>
          <a:p>
            <a:pPr marL="664546" lvl="1" indent="-181240">
              <a:buFont typeface="Arial" panose="020B0604020202020204" pitchFamily="34" charset="0"/>
              <a:buChar char="•"/>
            </a:pPr>
            <a:r>
              <a:rPr lang="en-US" sz="1300" dirty="0"/>
              <a:t>state — initially "pending", then changes to either "fulfilled" when resolve is called or "rejected" when reject is called.</a:t>
            </a:r>
          </a:p>
          <a:p>
            <a:pPr marL="664546" lvl="1" indent="-181240">
              <a:buFont typeface="Arial" panose="020B0604020202020204" pitchFamily="34" charset="0"/>
              <a:buChar char="•"/>
            </a:pPr>
            <a:r>
              <a:rPr lang="en-US" sz="1300" dirty="0"/>
              <a:t>result — initially undefined, then changes to value when resolve(value) called or error when reject(error) is called.</a:t>
            </a:r>
          </a:p>
          <a:p>
            <a:endParaRPr lang="en-CA" dirty="0"/>
          </a:p>
        </p:txBody>
      </p:sp>
      <p:sp>
        <p:nvSpPr>
          <p:cNvPr id="4" name="Slide Number Placeholder 3"/>
          <p:cNvSpPr>
            <a:spLocks noGrp="1"/>
          </p:cNvSpPr>
          <p:nvPr>
            <p:ph type="sldNum" sz="quarter" idx="5"/>
          </p:nvPr>
        </p:nvSpPr>
        <p:spPr/>
        <p:txBody>
          <a:bodyPr/>
          <a:lstStyle/>
          <a:p>
            <a:fld id="{2118C24E-E07F-4A76-9F4F-0D2A4F88715B}" type="slidenum">
              <a:rPr lang="en-CA" smtClean="0"/>
              <a:t>9</a:t>
            </a:fld>
            <a:endParaRPr lang="en-CA"/>
          </a:p>
        </p:txBody>
      </p:sp>
      <p:sp>
        <p:nvSpPr>
          <p:cNvPr id="5" name="Footer Placeholder 4">
            <a:extLst>
              <a:ext uri="{FF2B5EF4-FFF2-40B4-BE49-F238E27FC236}">
                <a16:creationId xmlns:a16="http://schemas.microsoft.com/office/drawing/2014/main" id="{F69EC0C9-887A-47B9-A579-55C9D530B6B8}"/>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29C0A6D3-08FA-4C1C-90D6-19F28EC139F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033577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11_async/snippets/usingThenPromise.js</a:t>
            </a:r>
          </a:p>
          <a:p>
            <a:pPr defTabSz="966612">
              <a:defRPr/>
            </a:pPr>
            <a:endParaRPr lang="en-CA"/>
          </a:p>
          <a:p>
            <a:pPr defTabSz="966612">
              <a:defRPr/>
            </a:pPr>
            <a:r>
              <a:rPr lang="en-CA"/>
              <a:t>Output:</a:t>
            </a:r>
          </a:p>
          <a:p>
            <a:pPr defTabSz="966612">
              <a:defRPr/>
            </a:pPr>
            <a:r>
              <a:rPr lang="en-CA"/>
              <a:t>Second argument function – Your promise is rejected.</a:t>
            </a:r>
          </a:p>
          <a:p>
            <a:pPr marL="181240" indent="-181240">
              <a:buFont typeface="Arial" panose="020B0604020202020204" pitchFamily="34" charset="0"/>
              <a:buChar char="•"/>
            </a:pPr>
            <a:endParaRPr lang="en-CA" i="0"/>
          </a:p>
          <a:p>
            <a:pPr marL="181240" indent="-181240">
              <a:buFont typeface="Arial" panose="020B0604020202020204" pitchFamily="34" charset="0"/>
              <a:buChar char="•"/>
            </a:pPr>
            <a:r>
              <a:rPr lang="en-CA" i="0"/>
              <a:t>The then() method of promise is invoked when promise is either resolved or rejected.  The then() methods takes two functions as parameters:</a:t>
            </a:r>
          </a:p>
          <a:p>
            <a:pPr marL="664546" lvl="1" indent="-181240">
              <a:buFont typeface="Arial" panose="020B0604020202020204" pitchFamily="34" charset="0"/>
              <a:buChar char="•"/>
            </a:pPr>
            <a:r>
              <a:rPr lang="en-US" sz="1300"/>
              <a:t>The first function is executed if the promise is resolved and a result is received.</a:t>
            </a:r>
          </a:p>
          <a:p>
            <a:pPr marL="664546" lvl="1" indent="-181240">
              <a:buFont typeface="Arial" panose="020B0604020202020204" pitchFamily="34" charset="0"/>
              <a:buChar char="•"/>
            </a:pPr>
            <a:r>
              <a:rPr lang="en-US" sz="1300"/>
              <a:t>The second function is executed if the promise is rejected and any kind of error is received. (It is optional a parameter and there is a better way to handle error using .catch() method</a:t>
            </a:r>
          </a:p>
          <a:p>
            <a:pPr marL="664546" lvl="1" indent="-181240">
              <a:buFont typeface="Arial" panose="020B0604020202020204" pitchFamily="34" charset="0"/>
              <a:buChar char="•"/>
            </a:pPr>
            <a:endParaRPr lang="en-US" sz="1300"/>
          </a:p>
          <a:p>
            <a:pPr marL="483306" lvl="1"/>
            <a:r>
              <a:rPr lang="en-US" sz="1300" err="1"/>
              <a:t>promise.then</a:t>
            </a:r>
            <a:r>
              <a:rPr lang="en-US" sz="1300"/>
              <a:t>(function(msg) {</a:t>
            </a:r>
          </a:p>
          <a:p>
            <a:pPr marL="483306" lvl="1"/>
            <a:r>
              <a:rPr lang="en-US" sz="1300"/>
              <a:t>		// handles when promise is resolved</a:t>
            </a:r>
          </a:p>
          <a:p>
            <a:pPr marL="966612" lvl="2"/>
            <a:r>
              <a:rPr lang="en-US" sz="1300"/>
              <a:t>}, function(msg) {</a:t>
            </a:r>
          </a:p>
          <a:p>
            <a:pPr marL="966612" lvl="2"/>
            <a:r>
              <a:rPr lang="en-US" sz="1300"/>
              <a:t>	// handles when promise is not resolved (better to use the catch method)</a:t>
            </a:r>
          </a:p>
          <a:p>
            <a:pPr marL="966612" lvl="2"/>
            <a:r>
              <a:rPr lang="en-US" sz="1300"/>
              <a:t>});</a:t>
            </a:r>
          </a:p>
        </p:txBody>
      </p:sp>
      <p:sp>
        <p:nvSpPr>
          <p:cNvPr id="4" name="Slide Number Placeholder 3"/>
          <p:cNvSpPr>
            <a:spLocks noGrp="1"/>
          </p:cNvSpPr>
          <p:nvPr>
            <p:ph type="sldNum" sz="quarter" idx="5"/>
          </p:nvPr>
        </p:nvSpPr>
        <p:spPr/>
        <p:txBody>
          <a:bodyPr/>
          <a:lstStyle/>
          <a:p>
            <a:fld id="{2118C24E-E07F-4A76-9F4F-0D2A4F88715B}" type="slidenum">
              <a:rPr lang="en-CA" smtClean="0"/>
              <a:t>10</a:t>
            </a:fld>
            <a:endParaRPr lang="en-CA"/>
          </a:p>
        </p:txBody>
      </p:sp>
      <p:sp>
        <p:nvSpPr>
          <p:cNvPr id="5" name="Footer Placeholder 4">
            <a:extLst>
              <a:ext uri="{FF2B5EF4-FFF2-40B4-BE49-F238E27FC236}">
                <a16:creationId xmlns:a16="http://schemas.microsoft.com/office/drawing/2014/main" id="{1FEA1AAB-FB8E-46A9-8B52-39A5DFAE9AC4}"/>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B53FE899-BD16-4D91-AA51-82CA0871596E}"/>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347325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11_async/snippets/usingThenCatchPromise.js</a:t>
            </a:r>
          </a:p>
          <a:p>
            <a:pPr defTabSz="966612">
              <a:defRPr/>
            </a:pPr>
            <a:endParaRPr lang="en-CA"/>
          </a:p>
          <a:p>
            <a:pPr defTabSz="966612">
              <a:defRPr/>
            </a:pPr>
            <a:r>
              <a:rPr lang="en-CA"/>
              <a:t>Output:</a:t>
            </a:r>
          </a:p>
          <a:p>
            <a:pPr defTabSz="966612">
              <a:defRPr/>
            </a:pPr>
            <a:r>
              <a:rPr lang="en-CA"/>
              <a:t>Inside the catch() method – Your promise is rejected.</a:t>
            </a:r>
          </a:p>
          <a:p>
            <a:pPr marL="181240" indent="-181240">
              <a:buFont typeface="Arial" panose="020B0604020202020204" pitchFamily="34" charset="0"/>
              <a:buChar char="•"/>
            </a:pPr>
            <a:r>
              <a:rPr lang="en-CA"/>
              <a:t>The then() method of promise is invoked when promise is either resolved or rejected.  The then() methods takes two functions as parameters:</a:t>
            </a:r>
          </a:p>
          <a:p>
            <a:pPr marL="664546" lvl="1" indent="-181240">
              <a:buFont typeface="Arial" panose="020B0604020202020204" pitchFamily="34" charset="0"/>
              <a:buChar char="•"/>
            </a:pPr>
            <a:r>
              <a:rPr lang="en-US"/>
              <a:t>The first function is executed if the promise is resolved and a result is received.</a:t>
            </a:r>
          </a:p>
          <a:p>
            <a:pPr marL="664546" lvl="1" indent="-181240">
              <a:buFont typeface="Arial" panose="020B0604020202020204" pitchFamily="34" charset="0"/>
              <a:buChar char="•"/>
            </a:pPr>
            <a:r>
              <a:rPr lang="en-US"/>
              <a:t>The second function is executed if the promise is rejected and any kind of error is received. (It is optional a parameter and there is a better way to handle error using .catch() method</a:t>
            </a:r>
          </a:p>
          <a:p>
            <a:pPr marL="664546" lvl="1" indent="-181240">
              <a:buFont typeface="Arial" panose="020B0604020202020204" pitchFamily="34" charset="0"/>
              <a:buChar char="•"/>
            </a:pPr>
            <a:endParaRPr lang="en-US"/>
          </a:p>
          <a:p>
            <a:pPr marL="483306" lvl="1"/>
            <a:r>
              <a:rPr lang="en-US"/>
              <a:t>// Handles the first argument only</a:t>
            </a:r>
          </a:p>
          <a:p>
            <a:pPr marL="483306" lvl="1"/>
            <a:r>
              <a:rPr lang="en-US" err="1"/>
              <a:t>promise.then</a:t>
            </a:r>
            <a:r>
              <a:rPr lang="en-US"/>
              <a:t>(function(msg) {</a:t>
            </a:r>
          </a:p>
          <a:p>
            <a:pPr marL="483306" lvl="1"/>
            <a:r>
              <a:rPr lang="en-US"/>
              <a:t>	// handles when promise is resolved</a:t>
            </a:r>
          </a:p>
          <a:p>
            <a:pPr marL="483306" lvl="1"/>
            <a:r>
              <a:rPr lang="en-US"/>
              <a:t>}).catch( function () {</a:t>
            </a:r>
          </a:p>
          <a:p>
            <a:pPr marL="483306" lvl="1"/>
            <a:r>
              <a:rPr lang="en-US"/>
              <a:t>	// The catch() method of promise is invoked when a promise is either rejected or some error has occurred within the execution</a:t>
            </a:r>
          </a:p>
          <a:p>
            <a:pPr marL="483306" lvl="1"/>
            <a:r>
              <a:rPr lang="en-US"/>
              <a:t>)};</a:t>
            </a:r>
          </a:p>
          <a:p>
            <a:pPr marL="181240" indent="-181240">
              <a:buFont typeface="Arial" panose="020B0604020202020204" pitchFamily="34" charset="0"/>
              <a:buChar char="•"/>
            </a:pPr>
            <a:r>
              <a:rPr lang="en-US"/>
              <a:t>The </a:t>
            </a:r>
            <a:r>
              <a:rPr lang="en-US" err="1"/>
              <a:t>promise#catch</a:t>
            </a:r>
            <a:r>
              <a:rPr lang="en-US"/>
              <a:t>() function in JavaScript is a convenient shorthand for .then(). Calling .catch(</a:t>
            </a:r>
            <a:r>
              <a:rPr lang="en-US" err="1"/>
              <a:t>onRejected</a:t>
            </a:r>
            <a:r>
              <a:rPr lang="en-US"/>
              <a:t>) is syntactic sugar for .then(null, </a:t>
            </a:r>
            <a:r>
              <a:rPr lang="en-US" err="1"/>
              <a:t>onRejected</a:t>
            </a:r>
            <a:r>
              <a:rPr lang="en-US"/>
              <a:t>).</a:t>
            </a:r>
          </a:p>
          <a:p>
            <a:pPr marL="181240" indent="-181240">
              <a:buFont typeface="Arial" panose="020B0604020202020204" pitchFamily="34" charset="0"/>
              <a:buChar char="•"/>
            </a:pPr>
            <a:endParaRPr lang="en-US" sz="1300" u="sng"/>
          </a:p>
          <a:p>
            <a:endParaRPr lang="en-CA" i="0"/>
          </a:p>
        </p:txBody>
      </p:sp>
      <p:sp>
        <p:nvSpPr>
          <p:cNvPr id="4" name="Slide Number Placeholder 3"/>
          <p:cNvSpPr>
            <a:spLocks noGrp="1"/>
          </p:cNvSpPr>
          <p:nvPr>
            <p:ph type="sldNum" sz="quarter" idx="5"/>
          </p:nvPr>
        </p:nvSpPr>
        <p:spPr/>
        <p:txBody>
          <a:bodyPr/>
          <a:lstStyle/>
          <a:p>
            <a:fld id="{2118C24E-E07F-4A76-9F4F-0D2A4F88715B}" type="slidenum">
              <a:rPr lang="en-CA" smtClean="0"/>
              <a:t>11</a:t>
            </a:fld>
            <a:endParaRPr lang="en-CA"/>
          </a:p>
        </p:txBody>
      </p:sp>
      <p:sp>
        <p:nvSpPr>
          <p:cNvPr id="5" name="Footer Placeholder 4">
            <a:extLst>
              <a:ext uri="{FF2B5EF4-FFF2-40B4-BE49-F238E27FC236}">
                <a16:creationId xmlns:a16="http://schemas.microsoft.com/office/drawing/2014/main" id="{9E59E5A5-6C58-4895-A522-3848A781897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40AB92D3-2CD7-44BE-B4D6-B68CFFBE6A6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57230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Using catch() for error handling is more readable.</a:t>
            </a:r>
          </a:p>
        </p:txBody>
      </p:sp>
      <p:sp>
        <p:nvSpPr>
          <p:cNvPr id="4" name="Slide Number Placeholder 3"/>
          <p:cNvSpPr>
            <a:spLocks noGrp="1"/>
          </p:cNvSpPr>
          <p:nvPr>
            <p:ph type="sldNum" sz="quarter" idx="5"/>
          </p:nvPr>
        </p:nvSpPr>
        <p:spPr/>
        <p:txBody>
          <a:bodyPr/>
          <a:lstStyle/>
          <a:p>
            <a:fld id="{2118C24E-E07F-4A76-9F4F-0D2A4F88715B}" type="slidenum">
              <a:rPr lang="en-CA" smtClean="0"/>
              <a:t>12</a:t>
            </a:fld>
            <a:endParaRPr lang="en-CA"/>
          </a:p>
        </p:txBody>
      </p:sp>
      <p:sp>
        <p:nvSpPr>
          <p:cNvPr id="5" name="Footer Placeholder 4">
            <a:extLst>
              <a:ext uri="{FF2B5EF4-FFF2-40B4-BE49-F238E27FC236}">
                <a16:creationId xmlns:a16="http://schemas.microsoft.com/office/drawing/2014/main" id="{74BD3657-CC41-4BB3-B839-C55FD10606D5}"/>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ACFF9546-E567-47B7-A374-78F86D781B0D}"/>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27065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11_async/snippets/usingFatArrowPromise01.js</a:t>
            </a:r>
          </a:p>
          <a:p>
            <a:pPr defTabSz="966612">
              <a:defRPr/>
            </a:pPr>
            <a:r>
              <a:rPr lang="en-CA" dirty="0"/>
              <a:t>Code snippet in 11_async/snippets/usingFatArrowPromise02.js</a:t>
            </a:r>
          </a:p>
          <a:p>
            <a:pPr defTabSz="966612">
              <a:defRPr/>
            </a:pPr>
            <a:endParaRPr lang="en-CA" dirty="0"/>
          </a:p>
          <a:p>
            <a:pPr defTabSz="966612">
              <a:defRPr/>
            </a:pPr>
            <a:r>
              <a:rPr lang="en-CA" dirty="0"/>
              <a:t>Output:</a:t>
            </a:r>
          </a:p>
          <a:p>
            <a:pPr defTabSz="966612">
              <a:defRPr/>
            </a:pPr>
            <a:r>
              <a:rPr lang="en-CA" dirty="0"/>
              <a:t>Your promise is rejected.</a:t>
            </a:r>
          </a:p>
          <a:p>
            <a:pPr defTabSz="966612">
              <a:defRPr/>
            </a:pPr>
            <a:endParaRPr lang="en-CA" dirty="0"/>
          </a:p>
          <a:p>
            <a:pPr defTabSz="966612">
              <a:defRPr/>
            </a:pPr>
            <a:endParaRPr lang="en-CA" dirty="0"/>
          </a:p>
          <a:p>
            <a:pPr defTabSz="966612">
              <a:defRPr/>
            </a:pPr>
            <a:endParaRPr lang="en-CA" dirty="0"/>
          </a:p>
        </p:txBody>
      </p:sp>
      <p:sp>
        <p:nvSpPr>
          <p:cNvPr id="4" name="Slide Number Placeholder 3"/>
          <p:cNvSpPr>
            <a:spLocks noGrp="1"/>
          </p:cNvSpPr>
          <p:nvPr>
            <p:ph type="sldNum" sz="quarter" idx="5"/>
          </p:nvPr>
        </p:nvSpPr>
        <p:spPr/>
        <p:txBody>
          <a:bodyPr/>
          <a:lstStyle/>
          <a:p>
            <a:fld id="{2118C24E-E07F-4A76-9F4F-0D2A4F88715B}" type="slidenum">
              <a:rPr lang="en-CA" smtClean="0"/>
              <a:t>13</a:t>
            </a:fld>
            <a:endParaRPr lang="en-CA"/>
          </a:p>
        </p:txBody>
      </p:sp>
      <p:sp>
        <p:nvSpPr>
          <p:cNvPr id="5" name="Footer Placeholder 4">
            <a:extLst>
              <a:ext uri="{FF2B5EF4-FFF2-40B4-BE49-F238E27FC236}">
                <a16:creationId xmlns:a16="http://schemas.microsoft.com/office/drawing/2014/main" id="{ACCFECDD-9F22-49E8-ABA0-E8CE41C26082}"/>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B13CA8EE-7906-4BCA-8925-2155D89ED789}"/>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144100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11_async/snippets/promiseFunction.js  - Do not run.</a:t>
            </a:r>
          </a:p>
          <a:p>
            <a:endParaRPr lang="en-CA" dirty="0"/>
          </a:p>
        </p:txBody>
      </p:sp>
      <p:sp>
        <p:nvSpPr>
          <p:cNvPr id="4" name="Slide Number Placeholder 3"/>
          <p:cNvSpPr>
            <a:spLocks noGrp="1"/>
          </p:cNvSpPr>
          <p:nvPr>
            <p:ph type="sldNum" sz="quarter" idx="5"/>
          </p:nvPr>
        </p:nvSpPr>
        <p:spPr/>
        <p:txBody>
          <a:bodyPr/>
          <a:lstStyle/>
          <a:p>
            <a:fld id="{2118C24E-E07F-4A76-9F4F-0D2A4F88715B}" type="slidenum">
              <a:rPr lang="en-CA" smtClean="0"/>
              <a:t>14</a:t>
            </a:fld>
            <a:endParaRPr lang="en-CA"/>
          </a:p>
        </p:txBody>
      </p:sp>
      <p:sp>
        <p:nvSpPr>
          <p:cNvPr id="5" name="Footer Placeholder 4">
            <a:extLst>
              <a:ext uri="{FF2B5EF4-FFF2-40B4-BE49-F238E27FC236}">
                <a16:creationId xmlns:a16="http://schemas.microsoft.com/office/drawing/2014/main" id="{B1EED525-B294-4450-BDD2-E6E786566512}"/>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1457080D-32DB-4EFC-828B-61B7D54D1739}"/>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069406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11_async/snippets/chainedPromise01.js</a:t>
            </a:r>
          </a:p>
          <a:p>
            <a:pPr defTabSz="966612">
              <a:defRPr/>
            </a:pPr>
            <a:endParaRPr lang="en-CA" dirty="0"/>
          </a:p>
          <a:p>
            <a:pPr defTabSz="966612">
              <a:defRPr/>
            </a:pPr>
            <a:r>
              <a:rPr lang="en-CA" dirty="0"/>
              <a:t>Output:</a:t>
            </a:r>
          </a:p>
          <a:p>
            <a:pPr defTabSz="966612">
              <a:defRPr/>
            </a:pPr>
            <a:r>
              <a:rPr lang="en-US" dirty="0"/>
              <a:t>Scenario 1 output</a:t>
            </a:r>
          </a:p>
          <a:p>
            <a:pPr defTabSz="966612">
              <a:defRPr/>
            </a:pPr>
            <a:r>
              <a:rPr lang="en-US" dirty="0"/>
              <a:t>Value of number is 2</a:t>
            </a:r>
          </a:p>
          <a:p>
            <a:pPr defTabSz="966612">
              <a:defRPr/>
            </a:pPr>
            <a:r>
              <a:rPr lang="en-US" dirty="0"/>
              <a:t>first then</a:t>
            </a:r>
          </a:p>
          <a:p>
            <a:pPr defTabSz="966612">
              <a:defRPr/>
            </a:pPr>
            <a:r>
              <a:rPr lang="en-US" dirty="0"/>
              <a:t>Value of number is 2</a:t>
            </a:r>
          </a:p>
          <a:p>
            <a:pPr defTabSz="966612">
              <a:defRPr/>
            </a:pPr>
            <a:r>
              <a:rPr lang="en-US" dirty="0"/>
              <a:t>second then</a:t>
            </a:r>
          </a:p>
          <a:p>
            <a:pPr defTabSz="966612">
              <a:defRPr/>
            </a:pPr>
            <a:r>
              <a:rPr lang="en-US" dirty="0"/>
              <a:t>Value of number is 2</a:t>
            </a:r>
          </a:p>
          <a:p>
            <a:pPr defTabSz="966612">
              <a:defRPr/>
            </a:pPr>
            <a:endParaRPr lang="en-CA" dirty="0"/>
          </a:p>
          <a:p>
            <a:r>
              <a:rPr lang="en-US" dirty="0"/>
              <a:t>To chain promise,</a:t>
            </a:r>
          </a:p>
          <a:p>
            <a:pPr marL="181240" indent="-181240">
              <a:buFont typeface="Arial" panose="020B0604020202020204" pitchFamily="34" charset="0"/>
              <a:buChar char="•"/>
            </a:pPr>
            <a:r>
              <a:rPr lang="en-US" b="1" dirty="0"/>
              <a:t>Scenario 1 - Chain then()s to run async actions in sequence. Return something from a then() callback</a:t>
            </a:r>
          </a:p>
          <a:p>
            <a:pPr marL="664546" lvl="1" indent="-181240">
              <a:buFont typeface="Arial" panose="020B0604020202020204" pitchFamily="34" charset="0"/>
              <a:buChar char="•"/>
            </a:pPr>
            <a:r>
              <a:rPr lang="en-US" b="1" dirty="0"/>
              <a:t>If you return a value, the next then() is called with that value</a:t>
            </a:r>
          </a:p>
          <a:p>
            <a:pPr marL="664546" lvl="1" indent="-181240">
              <a:buFont typeface="Arial" panose="020B0604020202020204" pitchFamily="34" charset="0"/>
              <a:buChar char="•"/>
            </a:pPr>
            <a:r>
              <a:rPr lang="en-US" b="1" dirty="0"/>
              <a:t>However, if you return something promise-like, the next then() waits on it, and is only called when that promise settles (succeeds/fails)</a:t>
            </a:r>
          </a:p>
          <a:p>
            <a:pPr marL="181240" indent="-181240">
              <a:buFont typeface="Arial" panose="020B0604020202020204" pitchFamily="34" charset="0"/>
              <a:buChar char="•"/>
            </a:pPr>
            <a:r>
              <a:rPr lang="en-US" dirty="0"/>
              <a:t>Scenario 2 - Do not need to catch errors in each individual then()</a:t>
            </a:r>
          </a:p>
          <a:p>
            <a:pPr marL="664546" lvl="1" indent="-181240">
              <a:buFont typeface="Arial" panose="020B0604020202020204" pitchFamily="34" charset="0"/>
              <a:buChar char="•"/>
            </a:pPr>
            <a:r>
              <a:rPr lang="en-US" dirty="0"/>
              <a:t>Put the catch() at the end of your promise chain, any errors in the promise chain will bypass the rest of the promise chain and go straight to your catch() error handler</a:t>
            </a:r>
          </a:p>
          <a:p>
            <a:endParaRPr lang="en-US" sz="1300" dirty="0"/>
          </a:p>
          <a:p>
            <a:endParaRPr lang="en-US" sz="1300" dirty="0"/>
          </a:p>
          <a:p>
            <a:pPr marL="664546" lvl="1" indent="-181240">
              <a:buFont typeface="Arial" panose="020B0604020202020204" pitchFamily="34" charset="0"/>
              <a:buChar char="•"/>
            </a:pPr>
            <a:endParaRPr lang="en-US" sz="1300" dirty="0"/>
          </a:p>
          <a:p>
            <a:endParaRPr lang="en-US" sz="1300" dirty="0"/>
          </a:p>
        </p:txBody>
      </p:sp>
      <p:sp>
        <p:nvSpPr>
          <p:cNvPr id="4" name="Slide Number Placeholder 3"/>
          <p:cNvSpPr>
            <a:spLocks noGrp="1"/>
          </p:cNvSpPr>
          <p:nvPr>
            <p:ph type="sldNum" sz="quarter" idx="5"/>
          </p:nvPr>
        </p:nvSpPr>
        <p:spPr/>
        <p:txBody>
          <a:bodyPr/>
          <a:lstStyle/>
          <a:p>
            <a:fld id="{2118C24E-E07F-4A76-9F4F-0D2A4F88715B}" type="slidenum">
              <a:rPr lang="en-CA" smtClean="0"/>
              <a:t>15</a:t>
            </a:fld>
            <a:endParaRPr lang="en-CA"/>
          </a:p>
        </p:txBody>
      </p:sp>
      <p:sp>
        <p:nvSpPr>
          <p:cNvPr id="5" name="Footer Placeholder 4">
            <a:extLst>
              <a:ext uri="{FF2B5EF4-FFF2-40B4-BE49-F238E27FC236}">
                <a16:creationId xmlns:a16="http://schemas.microsoft.com/office/drawing/2014/main" id="{DAA8F9AF-A170-405A-86A7-F9F06B23446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DF10D859-96F9-4D65-8DCB-CF622BEA5AEE}"/>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471994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11_async/snippets/chainedPromise02.js</a:t>
            </a:r>
          </a:p>
          <a:p>
            <a:pPr defTabSz="966612">
              <a:defRPr/>
            </a:pPr>
            <a:endParaRPr lang="en-CA" dirty="0"/>
          </a:p>
          <a:p>
            <a:pPr defTabSz="966612">
              <a:defRPr/>
            </a:pPr>
            <a:r>
              <a:rPr lang="en-CA" dirty="0"/>
              <a:t>Output:</a:t>
            </a:r>
          </a:p>
          <a:p>
            <a:pPr defTabSz="966612">
              <a:defRPr/>
            </a:pPr>
            <a:r>
              <a:rPr lang="en-US" dirty="0"/>
              <a:t>Scenario 2 output</a:t>
            </a:r>
          </a:p>
          <a:p>
            <a:pPr defTabSz="966612">
              <a:defRPr/>
            </a:pPr>
            <a:r>
              <a:rPr lang="en-US" dirty="0"/>
              <a:t>Value of number is 2</a:t>
            </a:r>
          </a:p>
          <a:p>
            <a:pPr defTabSz="966612">
              <a:defRPr/>
            </a:pPr>
            <a:r>
              <a:rPr lang="en-US" dirty="0"/>
              <a:t>first then</a:t>
            </a:r>
          </a:p>
          <a:p>
            <a:pPr defTabSz="966612">
              <a:defRPr/>
            </a:pPr>
            <a:r>
              <a:rPr lang="en-CA" dirty="0"/>
              <a:t>Your promise is rejected.</a:t>
            </a:r>
          </a:p>
          <a:p>
            <a:endParaRPr lang="en-US" sz="1300" dirty="0"/>
          </a:p>
          <a:p>
            <a:r>
              <a:rPr lang="en-US" sz="1300" dirty="0"/>
              <a:t>To chain promise,</a:t>
            </a:r>
          </a:p>
          <a:p>
            <a:pPr marL="181240" indent="-181240">
              <a:buFont typeface="Arial" panose="020B0604020202020204" pitchFamily="34" charset="0"/>
              <a:buChar char="•"/>
            </a:pPr>
            <a:r>
              <a:rPr lang="en-US" sz="1300" dirty="0"/>
              <a:t>Scenario 1 - Chain then()s to run async actions in sequence. Return something from a then() callback. </a:t>
            </a:r>
          </a:p>
          <a:p>
            <a:pPr marL="664546" lvl="1" indent="-181240">
              <a:buFont typeface="Arial" panose="020B0604020202020204" pitchFamily="34" charset="0"/>
              <a:buChar char="•"/>
            </a:pPr>
            <a:r>
              <a:rPr lang="en-US" sz="1300" dirty="0"/>
              <a:t>If you return a value, the next then() is called with that value</a:t>
            </a:r>
          </a:p>
          <a:p>
            <a:pPr marL="664546" lvl="1" indent="-181240">
              <a:buFont typeface="Arial" panose="020B0604020202020204" pitchFamily="34" charset="0"/>
              <a:buChar char="•"/>
            </a:pPr>
            <a:r>
              <a:rPr lang="en-US" sz="1300" dirty="0"/>
              <a:t>However, if you return something promise-like, the next then() waits on it, and is only called when that promise settles (succeeds/fails)</a:t>
            </a:r>
          </a:p>
          <a:p>
            <a:pPr marL="181240" indent="-181240">
              <a:buFont typeface="Arial" panose="020B0604020202020204" pitchFamily="34" charset="0"/>
              <a:buChar char="•"/>
            </a:pPr>
            <a:r>
              <a:rPr lang="en-US" sz="1300" b="1" dirty="0"/>
              <a:t>Scenario 2 - Do not need to catch errors in each individual then(). </a:t>
            </a:r>
          </a:p>
          <a:p>
            <a:pPr marL="664546" lvl="1" indent="-181240">
              <a:buFont typeface="Arial" panose="020B0604020202020204" pitchFamily="34" charset="0"/>
              <a:buChar char="•"/>
            </a:pPr>
            <a:r>
              <a:rPr lang="en-US" sz="1300" b="1" dirty="0"/>
              <a:t>Put the catch() at the end of your promise chain, any errors in the promise chain will bypass the rest of the promise chain and go straight to your catch() error handler</a:t>
            </a:r>
          </a:p>
          <a:p>
            <a:endParaRPr lang="en-US" sz="1300" b="1" dirty="0"/>
          </a:p>
          <a:p>
            <a:endParaRPr lang="en-US" sz="1300" b="1" dirty="0"/>
          </a:p>
          <a:p>
            <a:pPr marL="664546" lvl="1" indent="-181240">
              <a:buFont typeface="Arial" panose="020B0604020202020204" pitchFamily="34" charset="0"/>
              <a:buChar char="•"/>
            </a:pPr>
            <a:endParaRPr lang="en-US" sz="1300" dirty="0"/>
          </a:p>
          <a:p>
            <a:endParaRPr lang="en-US" sz="1300" dirty="0"/>
          </a:p>
        </p:txBody>
      </p:sp>
      <p:sp>
        <p:nvSpPr>
          <p:cNvPr id="4" name="Slide Number Placeholder 3"/>
          <p:cNvSpPr>
            <a:spLocks noGrp="1"/>
          </p:cNvSpPr>
          <p:nvPr>
            <p:ph type="sldNum" sz="quarter" idx="5"/>
          </p:nvPr>
        </p:nvSpPr>
        <p:spPr/>
        <p:txBody>
          <a:bodyPr/>
          <a:lstStyle/>
          <a:p>
            <a:fld id="{2118C24E-E07F-4A76-9F4F-0D2A4F88715B}" type="slidenum">
              <a:rPr lang="en-CA" smtClean="0"/>
              <a:t>16</a:t>
            </a:fld>
            <a:endParaRPr lang="en-CA"/>
          </a:p>
        </p:txBody>
      </p:sp>
      <p:sp>
        <p:nvSpPr>
          <p:cNvPr id="5" name="Footer Placeholder 4">
            <a:extLst>
              <a:ext uri="{FF2B5EF4-FFF2-40B4-BE49-F238E27FC236}">
                <a16:creationId xmlns:a16="http://schemas.microsoft.com/office/drawing/2014/main" id="{4A283FD5-4826-4B80-8E82-5B090EC216CF}"/>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9F285D3B-ADA0-4556-82DB-50D946DB9B59}"/>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532511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p>
          <a:p>
            <a:endParaRPr lang="en-CA"/>
          </a:p>
        </p:txBody>
      </p:sp>
      <p:sp>
        <p:nvSpPr>
          <p:cNvPr id="4" name="Slide Number Placeholder 3"/>
          <p:cNvSpPr>
            <a:spLocks noGrp="1"/>
          </p:cNvSpPr>
          <p:nvPr>
            <p:ph type="sldNum" sz="quarter" idx="5"/>
          </p:nvPr>
        </p:nvSpPr>
        <p:spPr/>
        <p:txBody>
          <a:bodyPr/>
          <a:lstStyle/>
          <a:p>
            <a:fld id="{164377C5-5F89-43AD-BF72-9B51ECAEB898}" type="slidenum">
              <a:rPr lang="en-CA" smtClean="0"/>
              <a:t>17</a:t>
            </a:fld>
            <a:endParaRPr lang="en-CA"/>
          </a:p>
        </p:txBody>
      </p:sp>
      <p:sp>
        <p:nvSpPr>
          <p:cNvPr id="5" name="Footer Placeholder 4">
            <a:extLst>
              <a:ext uri="{FF2B5EF4-FFF2-40B4-BE49-F238E27FC236}">
                <a16:creationId xmlns:a16="http://schemas.microsoft.com/office/drawing/2014/main" id="{ED8F8A80-2BFA-4B88-8578-0111FC3E07F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296653AD-0535-4284-8511-BEE2BD767182}"/>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553710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The await operator</a:t>
            </a:r>
          </a:p>
          <a:p>
            <a:pPr marL="181240" indent="-181240">
              <a:buFont typeface="Arial" panose="020B0604020202020204" pitchFamily="34" charset="0"/>
              <a:buChar char="•"/>
            </a:pPr>
            <a:r>
              <a:rPr lang="en-US"/>
              <a:t>Used to resolve the value of the function call</a:t>
            </a:r>
          </a:p>
          <a:p>
            <a:pPr marL="181240" indent="-181240">
              <a:buFont typeface="Arial" panose="020B0604020202020204" pitchFamily="34" charset="0"/>
              <a:buChar char="•"/>
            </a:pPr>
            <a:r>
              <a:rPr lang="en-US"/>
              <a:t>It will cause the execution the async function to pause</a:t>
            </a:r>
          </a:p>
          <a:p>
            <a:pPr marL="181240" indent="-181240">
              <a:buFont typeface="Arial" panose="020B0604020202020204" pitchFamily="34" charset="0"/>
              <a:buChar char="•"/>
            </a:pPr>
            <a:r>
              <a:rPr lang="en-US"/>
              <a:t>When the return value of the method call is a Promise</a:t>
            </a:r>
          </a:p>
          <a:p>
            <a:pPr marL="664546" lvl="1" indent="-181240">
              <a:buFont typeface="Arial" panose="020B0604020202020204" pitchFamily="34" charset="0"/>
              <a:buChar char="•"/>
            </a:pPr>
            <a:r>
              <a:rPr lang="en-US"/>
              <a:t>The await returns resolved value</a:t>
            </a:r>
          </a:p>
          <a:p>
            <a:pPr marL="664546" lvl="1" indent="-181240">
              <a:buFont typeface="Arial" panose="020B0604020202020204" pitchFamily="34" charset="0"/>
              <a:buChar char="•"/>
            </a:pPr>
            <a:r>
              <a:rPr lang="en-US"/>
              <a:t>if Promise is rejected the await throw exception with rejected value</a:t>
            </a:r>
          </a:p>
          <a:p>
            <a:pPr marL="181240" indent="-181240">
              <a:buFont typeface="Arial" panose="020B0604020202020204" pitchFamily="34" charset="0"/>
              <a:buChar char="•"/>
            </a:pPr>
            <a:r>
              <a:rPr lang="en-US"/>
              <a:t>When the return value of the method call is not Promise</a:t>
            </a:r>
          </a:p>
          <a:p>
            <a:pPr marL="664546" lvl="1" indent="-181240">
              <a:buFont typeface="Arial" panose="020B0604020202020204" pitchFamily="34" charset="0"/>
              <a:buChar char="•"/>
            </a:pPr>
            <a:r>
              <a:rPr lang="en-US"/>
              <a:t>The await operator returns the same value</a:t>
            </a:r>
          </a:p>
          <a:p>
            <a:pPr marL="664546" lvl="1" indent="-181240">
              <a:buFont typeface="Arial" panose="020B0604020202020204" pitchFamily="34" charset="0"/>
              <a:buChar char="•"/>
            </a:pPr>
            <a:r>
              <a:rPr lang="en-US"/>
              <a:t>The execution of function is suspended for short period of time</a:t>
            </a:r>
          </a:p>
          <a:p>
            <a:pPr marL="664546" lvl="1" indent="-181240">
              <a:buFont typeface="Arial" panose="020B0604020202020204" pitchFamily="34" charset="0"/>
              <a:buChar char="•"/>
            </a:pPr>
            <a:r>
              <a:rPr lang="en-US"/>
              <a:t>It will resolve it as a promise</a:t>
            </a:r>
          </a:p>
          <a:p>
            <a:pPr marL="181240" indent="-181240">
              <a:buFont typeface="Arial" panose="020B0604020202020204" pitchFamily="34" charset="0"/>
              <a:buChar char="•"/>
            </a:pPr>
            <a:r>
              <a:rPr lang="en-US"/>
              <a:t>It can be used only within async function</a:t>
            </a:r>
          </a:p>
          <a:p>
            <a:endParaRPr lang="en-CA"/>
          </a:p>
        </p:txBody>
      </p:sp>
      <p:sp>
        <p:nvSpPr>
          <p:cNvPr id="4" name="Slide Number Placeholder 3"/>
          <p:cNvSpPr>
            <a:spLocks noGrp="1"/>
          </p:cNvSpPr>
          <p:nvPr>
            <p:ph type="sldNum" sz="quarter" idx="5"/>
          </p:nvPr>
        </p:nvSpPr>
        <p:spPr/>
        <p:txBody>
          <a:bodyPr/>
          <a:lstStyle/>
          <a:p>
            <a:fld id="{164377C5-5F89-43AD-BF72-9B51ECAEB898}" type="slidenum">
              <a:rPr lang="en-CA" smtClean="0"/>
              <a:t>18</a:t>
            </a:fld>
            <a:endParaRPr lang="en-CA"/>
          </a:p>
        </p:txBody>
      </p:sp>
      <p:sp>
        <p:nvSpPr>
          <p:cNvPr id="5" name="Footer Placeholder 4">
            <a:extLst>
              <a:ext uri="{FF2B5EF4-FFF2-40B4-BE49-F238E27FC236}">
                <a16:creationId xmlns:a16="http://schemas.microsoft.com/office/drawing/2014/main" id="{4F726AC2-FCEE-4293-B0C9-9D5E81CB0793}"/>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06EBF3E4-841A-41E0-8E7A-EAB06EAEC33E}"/>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252833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11_async/snippets/usingAsync.js</a:t>
            </a:r>
          </a:p>
          <a:p>
            <a:endParaRPr lang="en-US"/>
          </a:p>
          <a:p>
            <a:r>
              <a:rPr lang="en-US"/>
              <a:t>Output:</a:t>
            </a:r>
          </a:p>
          <a:p>
            <a:r>
              <a:rPr lang="en-US"/>
              <a:t>Hello</a:t>
            </a:r>
          </a:p>
          <a:p>
            <a:r>
              <a:rPr lang="en-US"/>
              <a:t>Resolved from </a:t>
            </a:r>
            <a:r>
              <a:rPr lang="en-US" err="1"/>
              <a:t>doSomething</a:t>
            </a:r>
            <a:r>
              <a:rPr lang="en-US"/>
              <a:t>()</a:t>
            </a:r>
          </a:p>
          <a:p>
            <a:r>
              <a:rPr lang="en-US"/>
              <a:t>The finally block is called</a:t>
            </a:r>
          </a:p>
          <a:p>
            <a:endParaRPr lang="en-US"/>
          </a:p>
          <a:p>
            <a:pPr marL="181240" indent="-181240">
              <a:buFont typeface="Arial" panose="020B0604020202020204" pitchFamily="34" charset="0"/>
              <a:buChar char="•"/>
            </a:pPr>
            <a:r>
              <a:rPr lang="en-US"/>
              <a:t>Implementation of </a:t>
            </a:r>
            <a:r>
              <a:rPr lang="en-US" err="1"/>
              <a:t>doSomething</a:t>
            </a:r>
            <a:r>
              <a:rPr lang="en-US"/>
              <a:t>() function:</a:t>
            </a:r>
          </a:p>
          <a:p>
            <a:r>
              <a:rPr lang="en-US"/>
              <a:t>function </a:t>
            </a:r>
            <a:r>
              <a:rPr lang="en-US" err="1"/>
              <a:t>doSomething</a:t>
            </a:r>
            <a:r>
              <a:rPr lang="en-US"/>
              <a:t>() {</a:t>
            </a:r>
          </a:p>
          <a:p>
            <a:r>
              <a:rPr lang="en-US"/>
              <a:t>    let promise = new Promise(function (resolve, reject) {</a:t>
            </a:r>
          </a:p>
          <a:p>
            <a:r>
              <a:rPr lang="en-US"/>
              <a:t>        let number = 2;</a:t>
            </a:r>
          </a:p>
          <a:p>
            <a:r>
              <a:rPr lang="en-US"/>
              <a:t>        if (number == 2) {</a:t>
            </a:r>
          </a:p>
          <a:p>
            <a:r>
              <a:rPr lang="en-US"/>
              <a:t>            resolve("Resolved from </a:t>
            </a:r>
            <a:r>
              <a:rPr lang="en-US" err="1"/>
              <a:t>doSomething</a:t>
            </a:r>
            <a:r>
              <a:rPr lang="en-US"/>
              <a:t>()");</a:t>
            </a:r>
          </a:p>
          <a:p>
            <a:r>
              <a:rPr lang="en-US"/>
              <a:t>        } else {</a:t>
            </a:r>
          </a:p>
          <a:p>
            <a:r>
              <a:rPr lang="en-US"/>
              <a:t>            reject('Your Promise Rejected');</a:t>
            </a:r>
          </a:p>
          <a:p>
            <a:r>
              <a:rPr lang="en-US"/>
              <a:t>        }</a:t>
            </a:r>
          </a:p>
          <a:p>
            <a:r>
              <a:rPr lang="en-US"/>
              <a:t>    });</a:t>
            </a:r>
          </a:p>
          <a:p>
            <a:r>
              <a:rPr lang="en-US"/>
              <a:t>    return promise;</a:t>
            </a:r>
          </a:p>
          <a:p>
            <a:r>
              <a:rPr lang="en-US"/>
              <a:t>}</a:t>
            </a:r>
            <a:endParaRPr lang="en-CA"/>
          </a:p>
        </p:txBody>
      </p:sp>
      <p:sp>
        <p:nvSpPr>
          <p:cNvPr id="4" name="Slide Number Placeholder 3"/>
          <p:cNvSpPr>
            <a:spLocks noGrp="1"/>
          </p:cNvSpPr>
          <p:nvPr>
            <p:ph type="sldNum" sz="quarter" idx="5"/>
          </p:nvPr>
        </p:nvSpPr>
        <p:spPr/>
        <p:txBody>
          <a:bodyPr/>
          <a:lstStyle/>
          <a:p>
            <a:fld id="{2118C24E-E07F-4A76-9F4F-0D2A4F88715B}" type="slidenum">
              <a:rPr lang="en-CA" smtClean="0"/>
              <a:t>19</a:t>
            </a:fld>
            <a:endParaRPr lang="en-CA"/>
          </a:p>
        </p:txBody>
      </p:sp>
      <p:sp>
        <p:nvSpPr>
          <p:cNvPr id="5" name="Footer Placeholder 4">
            <a:extLst>
              <a:ext uri="{FF2B5EF4-FFF2-40B4-BE49-F238E27FC236}">
                <a16:creationId xmlns:a16="http://schemas.microsoft.com/office/drawing/2014/main" id="{D1BDABC5-23F0-4664-95AA-56467AB97459}"/>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FF80CA39-08AE-4ACD-BEB6-3ECAA5CDC42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466247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11_async/snippets/readingFile.js</a:t>
            </a:r>
          </a:p>
          <a:p>
            <a:endParaRPr lang="en-CA" dirty="0"/>
          </a:p>
          <a:p>
            <a:r>
              <a:rPr lang="en-CA" dirty="0"/>
              <a:t>Hello.txt</a:t>
            </a:r>
          </a:p>
          <a:p>
            <a:r>
              <a:rPr lang="en-CA" dirty="0"/>
              <a:t>Hello World </a:t>
            </a:r>
          </a:p>
          <a:p>
            <a:r>
              <a:rPr lang="en-CA" dirty="0"/>
              <a:t>JavaScript</a:t>
            </a:r>
          </a:p>
          <a:p>
            <a:endParaRPr lang="en-CA" dirty="0"/>
          </a:p>
          <a:p>
            <a:r>
              <a:rPr lang="en-CA" dirty="0"/>
              <a:t>Output:</a:t>
            </a:r>
          </a:p>
          <a:p>
            <a:r>
              <a:rPr lang="en-CA" dirty="0"/>
              <a:t>Hello World </a:t>
            </a:r>
          </a:p>
          <a:p>
            <a:r>
              <a:rPr lang="en-CA" dirty="0"/>
              <a:t>JavaScript</a:t>
            </a:r>
          </a:p>
          <a:p>
            <a:endParaRPr lang="en-CA" dirty="0"/>
          </a:p>
          <a:p>
            <a:r>
              <a:rPr lang="en-CA" dirty="0"/>
              <a:t>Based on Node.js’ documentation: https://nodejs.org/api/fs.html#fs_fs_readfile_path_options_callback</a:t>
            </a:r>
          </a:p>
          <a:p>
            <a:endParaRPr lang="en-CA" dirty="0"/>
          </a:p>
          <a:p>
            <a:pPr marL="241653" indent="-241653">
              <a:buAutoNum type="arabicPeriod"/>
            </a:pPr>
            <a:r>
              <a:rPr lang="en-CA" dirty="0"/>
              <a:t>The </a:t>
            </a:r>
            <a:r>
              <a:rPr lang="en-CA" dirty="0" err="1"/>
              <a:t>fs.readFile</a:t>
            </a:r>
            <a:r>
              <a:rPr lang="en-CA" dirty="0"/>
              <a:t>() is a promise based function</a:t>
            </a:r>
          </a:p>
          <a:p>
            <a:pPr marL="241653" indent="-241653">
              <a:buAutoNum type="arabicPeriod"/>
            </a:pPr>
            <a:r>
              <a:rPr lang="en-CA" dirty="0"/>
              <a:t>Use the await operator is used to pause the code on that line until the promise fulfils, then return the resulting value </a:t>
            </a:r>
          </a:p>
          <a:p>
            <a:pPr marL="241653" indent="-241653">
              <a:buAutoNum type="arabicPeriod"/>
            </a:pPr>
            <a:r>
              <a:rPr lang="en-CA" dirty="0"/>
              <a:t>The await operator should within a try and catch block</a:t>
            </a:r>
          </a:p>
          <a:p>
            <a:pPr marL="241653" indent="-241653">
              <a:buAutoNum type="arabicPeriod"/>
            </a:pPr>
            <a:r>
              <a:rPr lang="en-CA" dirty="0"/>
              <a:t>The function should use the async keyword so the await keyword will work</a:t>
            </a:r>
          </a:p>
          <a:p>
            <a:pPr marL="241653" indent="-241653">
              <a:buAutoNum type="arabicPeriod"/>
            </a:pPr>
            <a:endParaRPr lang="en-CA" dirty="0"/>
          </a:p>
          <a:p>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fld id="{2118C24E-E07F-4A76-9F4F-0D2A4F88715B}" type="slidenum">
              <a:rPr lang="en-CA" smtClean="0"/>
              <a:t>20</a:t>
            </a:fld>
            <a:endParaRPr lang="en-CA"/>
          </a:p>
        </p:txBody>
      </p:sp>
      <p:sp>
        <p:nvSpPr>
          <p:cNvPr id="5" name="Footer Placeholder 4">
            <a:extLst>
              <a:ext uri="{FF2B5EF4-FFF2-40B4-BE49-F238E27FC236}">
                <a16:creationId xmlns:a16="http://schemas.microsoft.com/office/drawing/2014/main" id="{86A0B527-DAFE-4CEA-B675-04C51D85265C}"/>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67025768-8EA1-4270-8984-2F474070A2FF}"/>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4154946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42736-6949-ECA3-066B-1F1A2707CE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6BADD3-A0EB-1A57-0835-58C348F57E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3BEF46-936B-38D2-0232-924B20AD5960}"/>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5" name="Footer Placeholder 4">
            <a:extLst>
              <a:ext uri="{FF2B5EF4-FFF2-40B4-BE49-F238E27FC236}">
                <a16:creationId xmlns:a16="http://schemas.microsoft.com/office/drawing/2014/main" id="{9CC1E4FD-556E-7388-BA91-75E6727A2F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94857-EFF7-A94E-8EDC-3154C63A3201}"/>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2851808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C5ACF-2C3D-0B1A-7359-5A31D40603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A4FF43-E5E6-115E-F305-D63379494A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86AD2-3190-7DF8-ED26-E42EBF2F0A52}"/>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5" name="Footer Placeholder 4">
            <a:extLst>
              <a:ext uri="{FF2B5EF4-FFF2-40B4-BE49-F238E27FC236}">
                <a16:creationId xmlns:a16="http://schemas.microsoft.com/office/drawing/2014/main" id="{98DD14E3-C85C-015D-9FF4-8C1E96E54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308724-2934-9531-C4FA-9B4857CAE071}"/>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216912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A5E7-9A76-D938-C52A-C2A5B70275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5F8C01-2FFB-EF5A-BC78-5548494DF0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7F30E8-2497-B70A-E578-B6561B3FE101}"/>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5" name="Footer Placeholder 4">
            <a:extLst>
              <a:ext uri="{FF2B5EF4-FFF2-40B4-BE49-F238E27FC236}">
                <a16:creationId xmlns:a16="http://schemas.microsoft.com/office/drawing/2014/main" id="{75EF812F-D593-4F62-63C7-CDC026AC1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D99F91-D5B6-792B-9DB0-2FC61700DE5A}"/>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4182023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BB178-DCC2-7832-3AB9-5C620664BF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109CFC-DF07-3EF4-F4AC-8953A2EA69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86C991-88B6-6202-2E39-702C36A474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B5F12F-D405-6F1B-AB81-B77B5FFDA099}"/>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6" name="Footer Placeholder 5">
            <a:extLst>
              <a:ext uri="{FF2B5EF4-FFF2-40B4-BE49-F238E27FC236}">
                <a16:creationId xmlns:a16="http://schemas.microsoft.com/office/drawing/2014/main" id="{916F124E-F765-7313-05B1-6B42A1DE80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5DF61D-E657-2CF6-C314-3A5C4FCF021E}"/>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22571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A53D3-A4E5-DE1A-9CFD-1DB3F2774A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844BC6-AEFA-1A10-9181-710214EC86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A86201-53A3-6F7B-3401-02AF1658F0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5D7032-142C-7A1C-ADE6-0B6A8F657E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7C4699-6714-02E3-0CA1-C70CD96C83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5F0904-D6F8-B2EE-1236-9D9661998D53}"/>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8" name="Footer Placeholder 7">
            <a:extLst>
              <a:ext uri="{FF2B5EF4-FFF2-40B4-BE49-F238E27FC236}">
                <a16:creationId xmlns:a16="http://schemas.microsoft.com/office/drawing/2014/main" id="{08856007-F51A-B321-B7A1-8B1AA59228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E75A94-6E78-26CB-527C-7FD1DEEE6E5C}"/>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4236096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43BE-E35F-8873-5384-6D7CA7CC7C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D65A7A-B12E-3DFC-BF92-09A6B1905C0A}"/>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4" name="Footer Placeholder 3">
            <a:extLst>
              <a:ext uri="{FF2B5EF4-FFF2-40B4-BE49-F238E27FC236}">
                <a16:creationId xmlns:a16="http://schemas.microsoft.com/office/drawing/2014/main" id="{EF9363FE-CDDE-6F64-984F-BA4FD8DA36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3F156D-717E-1811-E143-9473753B1935}"/>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2481348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D96C78-3623-81AA-ED66-3219F1E7540F}"/>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3" name="Footer Placeholder 2">
            <a:extLst>
              <a:ext uri="{FF2B5EF4-FFF2-40B4-BE49-F238E27FC236}">
                <a16:creationId xmlns:a16="http://schemas.microsoft.com/office/drawing/2014/main" id="{CC946B20-9D61-AFA2-9F0C-3871BF41DB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25C536-4B92-6531-5B08-A9822E10F9E3}"/>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2282007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9BBE3-BCA1-84E1-586D-1C5A6A4E46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16855D-5706-64AB-51E8-B7A4CCA885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9EB67A-284E-44FF-EC37-B5E8AF4DA8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67A99-AEBB-78D1-18B8-5368C4D7C81D}"/>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6" name="Footer Placeholder 5">
            <a:extLst>
              <a:ext uri="{FF2B5EF4-FFF2-40B4-BE49-F238E27FC236}">
                <a16:creationId xmlns:a16="http://schemas.microsoft.com/office/drawing/2014/main" id="{3228F717-4144-0BF2-D81D-BC7EED012F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3D7B78-656D-1097-3B74-F05EA6C9C5A4}"/>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3302980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5EB6F-B807-4FDC-F213-6324784263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70087C-2DB9-157A-73F5-C19333D2D66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DADADA-5595-715F-6307-5A294C0E4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88CEFC-17AC-2AD1-D4A7-67AEED056F1D}"/>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6" name="Footer Placeholder 5">
            <a:extLst>
              <a:ext uri="{FF2B5EF4-FFF2-40B4-BE49-F238E27FC236}">
                <a16:creationId xmlns:a16="http://schemas.microsoft.com/office/drawing/2014/main" id="{5ACD8D9E-1525-05EC-0B36-0AFCB593AC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BE49D5-E8BE-088A-07C1-CFEA88A3C196}"/>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3618227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1F2B-6A7D-6928-C975-955EA07768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5E9E91-9C4E-0366-9B9B-0189FF2821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E9E278-75C7-E6C7-DAAF-F6619B6A00A1}"/>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5" name="Footer Placeholder 4">
            <a:extLst>
              <a:ext uri="{FF2B5EF4-FFF2-40B4-BE49-F238E27FC236}">
                <a16:creationId xmlns:a16="http://schemas.microsoft.com/office/drawing/2014/main" id="{880786FE-354E-AB87-B944-3F6FFBF59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5697E-B280-34E1-3F49-6CF834D8147E}"/>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3688045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48E8A1-6A62-631B-0731-687AD7EFFB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20FC9A-0DD7-96DD-90CD-CBE8358DED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CE336-E444-AFFB-4F26-F3B53CCDEE9A}"/>
              </a:ext>
            </a:extLst>
          </p:cNvPr>
          <p:cNvSpPr>
            <a:spLocks noGrp="1"/>
          </p:cNvSpPr>
          <p:nvPr>
            <p:ph type="dt" sz="half" idx="10"/>
          </p:nvPr>
        </p:nvSpPr>
        <p:spPr/>
        <p:txBody>
          <a:bodyPr/>
          <a:lstStyle/>
          <a:p>
            <a:fld id="{66C2245B-622A-452D-A016-EAD1831B19D7}" type="datetimeFigureOut">
              <a:rPr lang="en-US" smtClean="0"/>
              <a:t>10/1/2026</a:t>
            </a:fld>
            <a:endParaRPr lang="en-US"/>
          </a:p>
        </p:txBody>
      </p:sp>
      <p:sp>
        <p:nvSpPr>
          <p:cNvPr id="5" name="Footer Placeholder 4">
            <a:extLst>
              <a:ext uri="{FF2B5EF4-FFF2-40B4-BE49-F238E27FC236}">
                <a16:creationId xmlns:a16="http://schemas.microsoft.com/office/drawing/2014/main" id="{126F5DC6-69B6-F062-981D-DE808DA04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6F3FE5-B42A-9088-D688-8D7F430E60C5}"/>
              </a:ext>
            </a:extLst>
          </p:cNvPr>
          <p:cNvSpPr>
            <a:spLocks noGrp="1"/>
          </p:cNvSpPr>
          <p:nvPr>
            <p:ph type="sldNum" sz="quarter" idx="12"/>
          </p:nvPr>
        </p:nvSpPr>
        <p:spPr/>
        <p:txBody>
          <a:bodyPr/>
          <a:lstStyle/>
          <a:p>
            <a:fld id="{34921403-72E6-4522-B266-0D349EFA6354}" type="slidenum">
              <a:rPr lang="en-US" smtClean="0"/>
              <a:t>‹#›</a:t>
            </a:fld>
            <a:endParaRPr lang="en-US"/>
          </a:p>
        </p:txBody>
      </p:sp>
    </p:spTree>
    <p:extLst>
      <p:ext uri="{BB962C8B-B14F-4D97-AF65-F5344CB8AC3E}">
        <p14:creationId xmlns:p14="http://schemas.microsoft.com/office/powerpoint/2010/main" val="3714608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CCA7C-7A4A-FAFA-6771-7E5CA7459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A388CB-AE09-9E68-E771-C9282BF04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1342D-2FC3-B4D6-E120-E9FEF3F24F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C2245B-622A-452D-A016-EAD1831B19D7}" type="datetimeFigureOut">
              <a:rPr lang="en-US" smtClean="0"/>
              <a:t>10/1/2026</a:t>
            </a:fld>
            <a:endParaRPr lang="en-US"/>
          </a:p>
        </p:txBody>
      </p:sp>
      <p:sp>
        <p:nvSpPr>
          <p:cNvPr id="5" name="Footer Placeholder 4">
            <a:extLst>
              <a:ext uri="{FF2B5EF4-FFF2-40B4-BE49-F238E27FC236}">
                <a16:creationId xmlns:a16="http://schemas.microsoft.com/office/drawing/2014/main" id="{B014709F-95E8-BEC2-772E-AA3E404748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3F129A-32F3-6F21-2ED2-27757E0EE9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921403-72E6-4522-B266-0D349EFA6354}" type="slidenum">
              <a:rPr lang="en-US" smtClean="0"/>
              <a:t>‹#›</a:t>
            </a:fld>
            <a:endParaRPr lang="en-US"/>
          </a:p>
        </p:txBody>
      </p:sp>
    </p:spTree>
    <p:extLst>
      <p:ext uri="{BB962C8B-B14F-4D97-AF65-F5344CB8AC3E}">
        <p14:creationId xmlns:p14="http://schemas.microsoft.com/office/powerpoint/2010/main" val="2536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17E79-1564-440D-B7F0-7CB3D73EDE18}"/>
              </a:ext>
            </a:extLst>
          </p:cNvPr>
          <p:cNvSpPr>
            <a:spLocks noGrp="1"/>
          </p:cNvSpPr>
          <p:nvPr>
            <p:ph type="ctrTitle"/>
          </p:nvPr>
        </p:nvSpPr>
        <p:spPr/>
        <p:txBody>
          <a:bodyPr/>
          <a:lstStyle/>
          <a:p>
            <a:r>
              <a:rPr lang="en-CA"/>
              <a:t>Asynchronous JavaScript</a:t>
            </a:r>
          </a:p>
        </p:txBody>
      </p:sp>
      <p:sp>
        <p:nvSpPr>
          <p:cNvPr id="3" name="Subtitle 2">
            <a:extLst>
              <a:ext uri="{FF2B5EF4-FFF2-40B4-BE49-F238E27FC236}">
                <a16:creationId xmlns:a16="http://schemas.microsoft.com/office/drawing/2014/main" id="{3320046B-9941-4449-B0F1-44E843C3C74D}"/>
              </a:ext>
            </a:extLst>
          </p:cNvPr>
          <p:cNvSpPr>
            <a:spLocks noGrp="1"/>
          </p:cNvSpPr>
          <p:nvPr>
            <p:ph type="subTitle" idx="1"/>
          </p:nvPr>
        </p:nvSpPr>
        <p:spPr/>
        <p:txBody>
          <a:bodyPr/>
          <a:lstStyle/>
          <a:p>
            <a:endParaRPr lang="en-CA"/>
          </a:p>
        </p:txBody>
      </p:sp>
      <p:sp>
        <p:nvSpPr>
          <p:cNvPr id="4" name="Slide Number Placeholder 3">
            <a:extLst>
              <a:ext uri="{FF2B5EF4-FFF2-40B4-BE49-F238E27FC236}">
                <a16:creationId xmlns:a16="http://schemas.microsoft.com/office/drawing/2014/main" id="{CDC37110-0132-4298-8475-E74F7B0C3284}"/>
              </a:ext>
            </a:extLst>
          </p:cNvPr>
          <p:cNvSpPr>
            <a:spLocks noGrp="1"/>
          </p:cNvSpPr>
          <p:nvPr>
            <p:ph type="sldNum" sz="quarter" idx="12"/>
          </p:nvPr>
        </p:nvSpPr>
        <p:spPr/>
        <p:txBody>
          <a:bodyPr/>
          <a:lstStyle/>
          <a:p>
            <a:fld id="{6B7CECC9-8688-4C14-9F38-24140407CAFB}" type="slidenum">
              <a:rPr lang="en-CA" smtClean="0"/>
              <a:t>1</a:t>
            </a:fld>
            <a:endParaRPr lang="en-CA"/>
          </a:p>
        </p:txBody>
      </p:sp>
    </p:spTree>
    <p:extLst>
      <p:ext uri="{BB962C8B-B14F-4D97-AF65-F5344CB8AC3E}">
        <p14:creationId xmlns:p14="http://schemas.microsoft.com/office/powerpoint/2010/main" val="4167812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9B7E-88F5-49BA-8B9B-89C3430A7606}"/>
              </a:ext>
            </a:extLst>
          </p:cNvPr>
          <p:cNvSpPr>
            <a:spLocks noGrp="1"/>
          </p:cNvSpPr>
          <p:nvPr>
            <p:ph type="title"/>
          </p:nvPr>
        </p:nvSpPr>
        <p:spPr/>
        <p:txBody>
          <a:bodyPr/>
          <a:lstStyle/>
          <a:p>
            <a:r>
              <a:rPr lang="en-CA"/>
              <a:t>Asynchronous JS</a:t>
            </a:r>
          </a:p>
        </p:txBody>
      </p:sp>
      <p:sp>
        <p:nvSpPr>
          <p:cNvPr id="3" name="Content Placeholder 2">
            <a:extLst>
              <a:ext uri="{FF2B5EF4-FFF2-40B4-BE49-F238E27FC236}">
                <a16:creationId xmlns:a16="http://schemas.microsoft.com/office/drawing/2014/main" id="{E8A1A110-9700-49F2-AD7B-9AD234BD9FEC}"/>
              </a:ext>
            </a:extLst>
          </p:cNvPr>
          <p:cNvSpPr>
            <a:spLocks noGrp="1"/>
          </p:cNvSpPr>
          <p:nvPr>
            <p:ph idx="1"/>
          </p:nvPr>
        </p:nvSpPr>
        <p:spPr/>
        <p:txBody>
          <a:bodyPr>
            <a:normAutofit lnSpcReduction="10000"/>
          </a:bodyPr>
          <a:lstStyle/>
          <a:p>
            <a:r>
              <a:rPr lang="en-CA" dirty="0"/>
              <a:t>What is Asynchronous JS ?</a:t>
            </a:r>
          </a:p>
          <a:p>
            <a:r>
              <a:rPr lang="en-CA" dirty="0"/>
              <a:t>Revisiting Callback Functions</a:t>
            </a:r>
          </a:p>
          <a:p>
            <a:pPr lvl="1"/>
            <a:r>
              <a:rPr lang="en-CA" dirty="0" err="1"/>
              <a:t>setTimeout</a:t>
            </a:r>
            <a:r>
              <a:rPr lang="en-CA" dirty="0"/>
              <a:t>(), </a:t>
            </a:r>
            <a:r>
              <a:rPr lang="en-CA" dirty="0" err="1"/>
              <a:t>setInterval</a:t>
            </a:r>
            <a:r>
              <a:rPr lang="en-CA" dirty="0"/>
              <a:t>()</a:t>
            </a:r>
          </a:p>
          <a:p>
            <a:r>
              <a:rPr lang="en-CA" dirty="0"/>
              <a:t>Async JS</a:t>
            </a:r>
          </a:p>
          <a:p>
            <a:r>
              <a:rPr lang="en-CA" dirty="0"/>
              <a:t>Promise</a:t>
            </a:r>
          </a:p>
          <a:p>
            <a:pPr lvl="1"/>
            <a:r>
              <a:rPr lang="en-CA" dirty="0"/>
              <a:t>Create a Promise</a:t>
            </a:r>
          </a:p>
          <a:p>
            <a:pPr lvl="1"/>
            <a:r>
              <a:rPr lang="en-CA" dirty="0"/>
              <a:t>Using a Promise</a:t>
            </a:r>
          </a:p>
          <a:p>
            <a:pPr lvl="2"/>
            <a:r>
              <a:rPr lang="en-CA" dirty="0"/>
              <a:t>then().catch() and finally()</a:t>
            </a:r>
          </a:p>
          <a:p>
            <a:pPr lvl="2"/>
            <a:r>
              <a:rPr lang="en-CA" dirty="0"/>
              <a:t>async and await keywords</a:t>
            </a:r>
          </a:p>
          <a:p>
            <a:r>
              <a:rPr lang="en-CA" dirty="0"/>
              <a:t>Reading File Asynchronously – an example</a:t>
            </a:r>
          </a:p>
        </p:txBody>
      </p:sp>
      <p:sp>
        <p:nvSpPr>
          <p:cNvPr id="4" name="Slide Number Placeholder 3">
            <a:extLst>
              <a:ext uri="{FF2B5EF4-FFF2-40B4-BE49-F238E27FC236}">
                <a16:creationId xmlns:a16="http://schemas.microsoft.com/office/drawing/2014/main" id="{6454BED8-0131-48BC-B34C-C64C00979856}"/>
              </a:ext>
            </a:extLst>
          </p:cNvPr>
          <p:cNvSpPr>
            <a:spLocks noGrp="1"/>
          </p:cNvSpPr>
          <p:nvPr>
            <p:ph type="sldNum" sz="quarter" idx="12"/>
          </p:nvPr>
        </p:nvSpPr>
        <p:spPr/>
        <p:txBody>
          <a:bodyPr/>
          <a:lstStyle/>
          <a:p>
            <a:fld id="{6B7CECC9-8688-4C14-9F38-24140407CAFB}" type="slidenum">
              <a:rPr lang="en-CA" smtClean="0"/>
              <a:t>2</a:t>
            </a:fld>
            <a:endParaRPr lang="en-CA"/>
          </a:p>
        </p:txBody>
      </p:sp>
    </p:spTree>
    <p:extLst>
      <p:ext uri="{BB962C8B-B14F-4D97-AF65-F5344CB8AC3E}">
        <p14:creationId xmlns:p14="http://schemas.microsoft.com/office/powerpoint/2010/main" val="4114557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F2A93-2D6B-4029-8E57-0561302245E9}"/>
              </a:ext>
            </a:extLst>
          </p:cNvPr>
          <p:cNvSpPr>
            <a:spLocks noGrp="1"/>
          </p:cNvSpPr>
          <p:nvPr>
            <p:ph type="title"/>
          </p:nvPr>
        </p:nvSpPr>
        <p:spPr/>
        <p:txBody>
          <a:bodyPr/>
          <a:lstStyle/>
          <a:p>
            <a:r>
              <a:rPr lang="en-CA"/>
              <a:t>Synchronous vs Asynchronous</a:t>
            </a:r>
          </a:p>
        </p:txBody>
      </p:sp>
      <p:sp>
        <p:nvSpPr>
          <p:cNvPr id="3" name="Content Placeholder 2">
            <a:extLst>
              <a:ext uri="{FF2B5EF4-FFF2-40B4-BE49-F238E27FC236}">
                <a16:creationId xmlns:a16="http://schemas.microsoft.com/office/drawing/2014/main" id="{4157C6A4-D88E-4E45-88D7-1F2AEDC287E5}"/>
              </a:ext>
            </a:extLst>
          </p:cNvPr>
          <p:cNvSpPr>
            <a:spLocks noGrp="1"/>
          </p:cNvSpPr>
          <p:nvPr>
            <p:ph idx="1"/>
          </p:nvPr>
        </p:nvSpPr>
        <p:spPr>
          <a:xfrm>
            <a:off x="5370858" y="1825625"/>
            <a:ext cx="5787680" cy="4351338"/>
          </a:xfrm>
        </p:spPr>
        <p:txBody>
          <a:bodyPr>
            <a:normAutofit/>
          </a:bodyPr>
          <a:lstStyle/>
          <a:p>
            <a:r>
              <a:rPr lang="en-US"/>
              <a:t>Synchronous </a:t>
            </a:r>
          </a:p>
          <a:p>
            <a:pPr lvl="1"/>
            <a:r>
              <a:rPr lang="en-US"/>
              <a:t>Can only execute one thing at a time</a:t>
            </a:r>
            <a:endParaRPr lang="en-US" b="1"/>
          </a:p>
          <a:p>
            <a:r>
              <a:rPr lang="en-US"/>
              <a:t>Asynchronous </a:t>
            </a:r>
          </a:p>
          <a:p>
            <a:pPr lvl="1"/>
            <a:r>
              <a:rPr lang="en-US"/>
              <a:t>Can execute multiple things at a time and you don't have to finish executing the current thing in order to move on to next one</a:t>
            </a:r>
            <a:endParaRPr lang="en-CA"/>
          </a:p>
        </p:txBody>
      </p:sp>
      <p:pic>
        <p:nvPicPr>
          <p:cNvPr id="4" name="Picture 3">
            <a:extLst>
              <a:ext uri="{FF2B5EF4-FFF2-40B4-BE49-F238E27FC236}">
                <a16:creationId xmlns:a16="http://schemas.microsoft.com/office/drawing/2014/main" id="{F2D7C183-BF05-4DA6-B3DB-7B70E2DBBDF9}"/>
              </a:ext>
            </a:extLst>
          </p:cNvPr>
          <p:cNvPicPr>
            <a:picLocks noChangeAspect="1"/>
          </p:cNvPicPr>
          <p:nvPr/>
        </p:nvPicPr>
        <p:blipFill>
          <a:blip r:embed="rId3"/>
          <a:stretch>
            <a:fillRect/>
          </a:stretch>
        </p:blipFill>
        <p:spPr>
          <a:xfrm>
            <a:off x="1063694" y="2638967"/>
            <a:ext cx="4307164" cy="2318796"/>
          </a:xfrm>
          <a:prstGeom prst="rect">
            <a:avLst/>
          </a:prstGeom>
        </p:spPr>
      </p:pic>
      <p:sp>
        <p:nvSpPr>
          <p:cNvPr id="5" name="Slide Number Placeholder 4">
            <a:extLst>
              <a:ext uri="{FF2B5EF4-FFF2-40B4-BE49-F238E27FC236}">
                <a16:creationId xmlns:a16="http://schemas.microsoft.com/office/drawing/2014/main" id="{EC1EC8A8-A164-4DB5-803C-C4679338876C}"/>
              </a:ext>
            </a:extLst>
          </p:cNvPr>
          <p:cNvSpPr>
            <a:spLocks noGrp="1"/>
          </p:cNvSpPr>
          <p:nvPr>
            <p:ph type="sldNum" sz="quarter" idx="12"/>
          </p:nvPr>
        </p:nvSpPr>
        <p:spPr/>
        <p:txBody>
          <a:bodyPr/>
          <a:lstStyle/>
          <a:p>
            <a:fld id="{6B7CECC9-8688-4C14-9F38-24140407CAFB}" type="slidenum">
              <a:rPr lang="en-CA" smtClean="0"/>
              <a:t>3</a:t>
            </a:fld>
            <a:endParaRPr lang="en-CA"/>
          </a:p>
        </p:txBody>
      </p:sp>
    </p:spTree>
    <p:extLst>
      <p:ext uri="{BB962C8B-B14F-4D97-AF65-F5344CB8AC3E}">
        <p14:creationId xmlns:p14="http://schemas.microsoft.com/office/powerpoint/2010/main" val="741405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6EC3-7D06-49FC-9C8B-018BCC517CB3}"/>
              </a:ext>
            </a:extLst>
          </p:cNvPr>
          <p:cNvSpPr>
            <a:spLocks noGrp="1"/>
          </p:cNvSpPr>
          <p:nvPr>
            <p:ph type="title"/>
          </p:nvPr>
        </p:nvSpPr>
        <p:spPr/>
        <p:txBody>
          <a:bodyPr/>
          <a:lstStyle/>
          <a:p>
            <a:r>
              <a:rPr lang="en-CA"/>
              <a:t>Synchronous Execution</a:t>
            </a:r>
          </a:p>
        </p:txBody>
      </p:sp>
      <p:sp>
        <p:nvSpPr>
          <p:cNvPr id="3" name="Content Placeholder 2">
            <a:extLst>
              <a:ext uri="{FF2B5EF4-FFF2-40B4-BE49-F238E27FC236}">
                <a16:creationId xmlns:a16="http://schemas.microsoft.com/office/drawing/2014/main" id="{077E9AB8-5FCF-4E2D-8EF0-FEB75891574A}"/>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A1D1B1D7-0BFD-40F3-BB17-F19666FCA32E}"/>
              </a:ext>
            </a:extLst>
          </p:cNvPr>
          <p:cNvPicPr>
            <a:picLocks noChangeAspect="1"/>
          </p:cNvPicPr>
          <p:nvPr/>
        </p:nvPicPr>
        <p:blipFill>
          <a:blip r:embed="rId3"/>
          <a:stretch>
            <a:fillRect/>
          </a:stretch>
        </p:blipFill>
        <p:spPr>
          <a:xfrm>
            <a:off x="2896709" y="2386806"/>
            <a:ext cx="6924675" cy="3228975"/>
          </a:xfrm>
          <a:prstGeom prst="rect">
            <a:avLst/>
          </a:prstGeom>
        </p:spPr>
      </p:pic>
      <p:sp>
        <p:nvSpPr>
          <p:cNvPr id="4" name="Slide Number Placeholder 3">
            <a:extLst>
              <a:ext uri="{FF2B5EF4-FFF2-40B4-BE49-F238E27FC236}">
                <a16:creationId xmlns:a16="http://schemas.microsoft.com/office/drawing/2014/main" id="{5704D613-421D-4E87-8529-F457C01BAF0D}"/>
              </a:ext>
            </a:extLst>
          </p:cNvPr>
          <p:cNvSpPr>
            <a:spLocks noGrp="1"/>
          </p:cNvSpPr>
          <p:nvPr>
            <p:ph type="sldNum" sz="quarter" idx="12"/>
          </p:nvPr>
        </p:nvSpPr>
        <p:spPr/>
        <p:txBody>
          <a:bodyPr/>
          <a:lstStyle/>
          <a:p>
            <a:fld id="{6B7CECC9-8688-4C14-9F38-24140407CAFB}" type="slidenum">
              <a:rPr lang="en-CA" smtClean="0"/>
              <a:t>4</a:t>
            </a:fld>
            <a:endParaRPr lang="en-CA"/>
          </a:p>
        </p:txBody>
      </p:sp>
    </p:spTree>
    <p:extLst>
      <p:ext uri="{BB962C8B-B14F-4D97-AF65-F5344CB8AC3E}">
        <p14:creationId xmlns:p14="http://schemas.microsoft.com/office/powerpoint/2010/main" val="45974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46442-6DA8-4BA0-88CC-CAA71FD28850}"/>
              </a:ext>
            </a:extLst>
          </p:cNvPr>
          <p:cNvSpPr>
            <a:spLocks noGrp="1"/>
          </p:cNvSpPr>
          <p:nvPr>
            <p:ph type="title"/>
          </p:nvPr>
        </p:nvSpPr>
        <p:spPr/>
        <p:txBody>
          <a:bodyPr/>
          <a:lstStyle/>
          <a:p>
            <a:r>
              <a:rPr lang="en-CA"/>
              <a:t>Asynchronous Execution</a:t>
            </a:r>
          </a:p>
        </p:txBody>
      </p:sp>
      <p:sp>
        <p:nvSpPr>
          <p:cNvPr id="3" name="Content Placeholder 2">
            <a:extLst>
              <a:ext uri="{FF2B5EF4-FFF2-40B4-BE49-F238E27FC236}">
                <a16:creationId xmlns:a16="http://schemas.microsoft.com/office/drawing/2014/main" id="{587393F5-0805-42E1-8943-FE06B8B2B079}"/>
              </a:ext>
            </a:extLst>
          </p:cNvPr>
          <p:cNvSpPr>
            <a:spLocks noGrp="1"/>
          </p:cNvSpPr>
          <p:nvPr>
            <p:ph idx="1"/>
          </p:nvPr>
        </p:nvSpPr>
        <p:spPr/>
        <p:txBody>
          <a:bodyPr/>
          <a:lstStyle/>
          <a:p>
            <a:endParaRPr lang="en-CA"/>
          </a:p>
        </p:txBody>
      </p:sp>
      <p:pic>
        <p:nvPicPr>
          <p:cNvPr id="4" name="Picture 3">
            <a:extLst>
              <a:ext uri="{FF2B5EF4-FFF2-40B4-BE49-F238E27FC236}">
                <a16:creationId xmlns:a16="http://schemas.microsoft.com/office/drawing/2014/main" id="{8FA42AEB-E25B-4627-8D05-D0FB5B2FA6E0}"/>
              </a:ext>
            </a:extLst>
          </p:cNvPr>
          <p:cNvPicPr>
            <a:picLocks noChangeAspect="1"/>
          </p:cNvPicPr>
          <p:nvPr/>
        </p:nvPicPr>
        <p:blipFill>
          <a:blip r:embed="rId3"/>
          <a:stretch>
            <a:fillRect/>
          </a:stretch>
        </p:blipFill>
        <p:spPr>
          <a:xfrm>
            <a:off x="2798915" y="2282738"/>
            <a:ext cx="6343650" cy="3219450"/>
          </a:xfrm>
          <a:prstGeom prst="rect">
            <a:avLst/>
          </a:prstGeom>
        </p:spPr>
      </p:pic>
      <p:sp>
        <p:nvSpPr>
          <p:cNvPr id="5" name="Slide Number Placeholder 4">
            <a:extLst>
              <a:ext uri="{FF2B5EF4-FFF2-40B4-BE49-F238E27FC236}">
                <a16:creationId xmlns:a16="http://schemas.microsoft.com/office/drawing/2014/main" id="{4EFCF5F8-74FD-406B-A785-A951EA74F721}"/>
              </a:ext>
            </a:extLst>
          </p:cNvPr>
          <p:cNvSpPr>
            <a:spLocks noGrp="1"/>
          </p:cNvSpPr>
          <p:nvPr>
            <p:ph type="sldNum" sz="quarter" idx="12"/>
          </p:nvPr>
        </p:nvSpPr>
        <p:spPr/>
        <p:txBody>
          <a:bodyPr/>
          <a:lstStyle/>
          <a:p>
            <a:fld id="{6B7CECC9-8688-4C14-9F38-24140407CAFB}" type="slidenum">
              <a:rPr lang="en-CA" smtClean="0"/>
              <a:t>5</a:t>
            </a:fld>
            <a:endParaRPr lang="en-CA"/>
          </a:p>
        </p:txBody>
      </p:sp>
    </p:spTree>
    <p:extLst>
      <p:ext uri="{BB962C8B-B14F-4D97-AF65-F5344CB8AC3E}">
        <p14:creationId xmlns:p14="http://schemas.microsoft.com/office/powerpoint/2010/main" val="630019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a:t>Revisiting </a:t>
            </a:r>
            <a:r>
              <a:rPr lang="en-CA" err="1"/>
              <a:t>setTimeout</a:t>
            </a:r>
            <a:r>
              <a:rPr lang="en-CA"/>
              <a:t>() Method</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r>
              <a:rPr lang="en-CA"/>
              <a:t>Built in window function</a:t>
            </a:r>
          </a:p>
          <a:p>
            <a:pPr lvl="1"/>
            <a:r>
              <a:rPr lang="en-US"/>
              <a:t>Calls a function or evaluates an expression after a specified number of milliseconds</a:t>
            </a:r>
            <a:endParaRPr lang="en-CA"/>
          </a:p>
          <a:p>
            <a:endParaRPr lang="en-CA"/>
          </a:p>
          <a:p>
            <a:pPr lvl="2"/>
            <a:r>
              <a:rPr lang="en-CA"/>
              <a:t>The argument function is a callback function</a:t>
            </a:r>
          </a:p>
          <a:p>
            <a:r>
              <a:rPr lang="en-CA"/>
              <a:t>How to use </a:t>
            </a:r>
            <a:r>
              <a:rPr lang="en-CA" err="1"/>
              <a:t>setTimeout</a:t>
            </a:r>
            <a:r>
              <a:rPr lang="en-CA"/>
              <a:t>()</a:t>
            </a:r>
          </a:p>
          <a:p>
            <a:pPr lvl="1"/>
            <a:r>
              <a:rPr lang="en-CA"/>
              <a:t>Define an anonymous function inside the </a:t>
            </a:r>
            <a:r>
              <a:rPr lang="en-CA" err="1"/>
              <a:t>setTimeout</a:t>
            </a:r>
            <a:endParaRPr lang="en-CA"/>
          </a:p>
          <a:p>
            <a:pPr lvl="1"/>
            <a:r>
              <a:rPr lang="en-CA"/>
              <a:t>Define a function and pass an argument</a:t>
            </a:r>
          </a:p>
          <a:p>
            <a:pPr lvl="1"/>
            <a:r>
              <a:rPr lang="en-CA"/>
              <a:t>Use the arrow function (most compact way)</a:t>
            </a:r>
          </a:p>
        </p:txBody>
      </p:sp>
      <p:sp>
        <p:nvSpPr>
          <p:cNvPr id="18" name="Text Box 1033">
            <a:extLst>
              <a:ext uri="{FF2B5EF4-FFF2-40B4-BE49-F238E27FC236}">
                <a16:creationId xmlns:a16="http://schemas.microsoft.com/office/drawing/2014/main" id="{9B081671-0EE5-4ED4-A8EA-56DA8A0FBDC8}"/>
              </a:ext>
            </a:extLst>
          </p:cNvPr>
          <p:cNvSpPr txBox="1">
            <a:spLocks noChangeArrowheads="1"/>
          </p:cNvSpPr>
          <p:nvPr/>
        </p:nvSpPr>
        <p:spPr bwMode="auto">
          <a:xfrm>
            <a:off x="1716895" y="3046072"/>
            <a:ext cx="8258628"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err="1">
                <a:solidFill>
                  <a:schemeClr val="tx1"/>
                </a:solidFill>
                <a:latin typeface="Courier New" panose="02070309020205020404" pitchFamily="49" charset="0"/>
              </a:rPr>
              <a:t>setTimeout</a:t>
            </a:r>
            <a:r>
              <a:rPr kumimoji="1" lang="en-US" altLang="en-US" sz="1800" b="1" kern="0">
                <a:solidFill>
                  <a:schemeClr val="tx1"/>
                </a:solidFill>
                <a:latin typeface="Courier New" panose="02070309020205020404" pitchFamily="49" charset="0"/>
              </a:rPr>
              <a:t>(function, milliseconds, param1, param...)</a:t>
            </a:r>
          </a:p>
        </p:txBody>
      </p:sp>
      <p:sp>
        <p:nvSpPr>
          <p:cNvPr id="4" name="Slide Number Placeholder 3">
            <a:extLst>
              <a:ext uri="{FF2B5EF4-FFF2-40B4-BE49-F238E27FC236}">
                <a16:creationId xmlns:a16="http://schemas.microsoft.com/office/drawing/2014/main" id="{D53AFAAD-D975-4396-B7D2-4735B091F252}"/>
              </a:ext>
            </a:extLst>
          </p:cNvPr>
          <p:cNvSpPr>
            <a:spLocks noGrp="1"/>
          </p:cNvSpPr>
          <p:nvPr>
            <p:ph type="sldNum" sz="quarter" idx="12"/>
          </p:nvPr>
        </p:nvSpPr>
        <p:spPr/>
        <p:txBody>
          <a:bodyPr/>
          <a:lstStyle/>
          <a:p>
            <a:fld id="{6B7CECC9-8688-4C14-9F38-24140407CAFB}" type="slidenum">
              <a:rPr lang="en-CA" smtClean="0"/>
              <a:t>6</a:t>
            </a:fld>
            <a:endParaRPr lang="en-CA"/>
          </a:p>
        </p:txBody>
      </p:sp>
    </p:spTree>
    <p:extLst>
      <p:ext uri="{BB962C8B-B14F-4D97-AF65-F5344CB8AC3E}">
        <p14:creationId xmlns:p14="http://schemas.microsoft.com/office/powerpoint/2010/main" val="2243878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5719-45A3-46F3-AD2C-7388CF58C46B}"/>
              </a:ext>
            </a:extLst>
          </p:cNvPr>
          <p:cNvSpPr>
            <a:spLocks noGrp="1"/>
          </p:cNvSpPr>
          <p:nvPr>
            <p:ph type="title"/>
          </p:nvPr>
        </p:nvSpPr>
        <p:spPr/>
        <p:txBody>
          <a:bodyPr/>
          <a:lstStyle/>
          <a:p>
            <a:r>
              <a:rPr lang="en-CA"/>
              <a:t>Callback Function – Another Example</a:t>
            </a:r>
          </a:p>
        </p:txBody>
      </p:sp>
      <p:sp>
        <p:nvSpPr>
          <p:cNvPr id="3" name="Content Placeholder 2">
            <a:extLst>
              <a:ext uri="{FF2B5EF4-FFF2-40B4-BE49-F238E27FC236}">
                <a16:creationId xmlns:a16="http://schemas.microsoft.com/office/drawing/2014/main" id="{475338BC-B9C3-4CE2-924E-EF78B8FE19A4}"/>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CE306E8E-B673-4CEA-851E-8CCC0975004E}"/>
              </a:ext>
            </a:extLst>
          </p:cNvPr>
          <p:cNvSpPr txBox="1">
            <a:spLocks noChangeArrowheads="1"/>
          </p:cNvSpPr>
          <p:nvPr/>
        </p:nvSpPr>
        <p:spPr bwMode="auto">
          <a:xfrm>
            <a:off x="1693124" y="2138825"/>
            <a:ext cx="8882110" cy="378565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600" b="1" kern="0" err="1">
                <a:solidFill>
                  <a:schemeClr val="tx1"/>
                </a:solidFill>
                <a:latin typeface="Courier New" panose="02070309020205020404" pitchFamily="49" charset="0"/>
              </a:rPr>
              <a:t>setTimeout</a:t>
            </a:r>
            <a:r>
              <a:rPr kumimoji="1" lang="en-US" altLang="en-US" sz="1600" b="1" kern="0">
                <a:solidFill>
                  <a:schemeClr val="tx1"/>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    function() {</a:t>
            </a: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        console.log("hello anonymous function")</a:t>
            </a: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    }, 1000</a:t>
            </a: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600" b="1" kern="0">
              <a:solidFill>
                <a:schemeClr val="tx1"/>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function </a:t>
            </a:r>
            <a:r>
              <a:rPr kumimoji="1" lang="en-US" altLang="en-US" sz="1600" b="1" kern="0" err="1">
                <a:solidFill>
                  <a:schemeClr val="tx1"/>
                </a:solidFill>
                <a:latin typeface="Courier New" panose="02070309020205020404" pitchFamily="49" charset="0"/>
              </a:rPr>
              <a:t>displayHello</a:t>
            </a:r>
            <a:r>
              <a:rPr kumimoji="1" lang="en-US" altLang="en-US" sz="1600" b="1" kern="0">
                <a:solidFill>
                  <a:schemeClr val="tx1"/>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    console.log('</a:t>
            </a:r>
            <a:r>
              <a:rPr kumimoji="1" lang="en-US" altLang="en-US" sz="1600" b="1" kern="0" err="1">
                <a:solidFill>
                  <a:schemeClr val="tx1"/>
                </a:solidFill>
                <a:latin typeface="Courier New" panose="02070309020205020404" pitchFamily="49" charset="0"/>
              </a:rPr>
              <a:t>displayHello</a:t>
            </a:r>
            <a:r>
              <a:rPr kumimoji="1" lang="en-US" altLang="en-US" sz="1600" b="1" kern="0">
                <a:solidFill>
                  <a:schemeClr val="tx1"/>
                </a:solidFill>
                <a:latin typeface="Courier New" panose="02070309020205020404" pitchFamily="49" charset="0"/>
              </a:rPr>
              <a:t> function');</a:t>
            </a: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600" b="1" kern="0">
              <a:solidFill>
                <a:schemeClr val="tx1"/>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err="1">
                <a:solidFill>
                  <a:schemeClr val="tx1"/>
                </a:solidFill>
                <a:latin typeface="Courier New" panose="02070309020205020404" pitchFamily="49" charset="0"/>
              </a:rPr>
              <a:t>setTimeout</a:t>
            </a:r>
            <a:r>
              <a:rPr kumimoji="1" lang="en-US" altLang="en-US" sz="1600" b="1" kern="0">
                <a:solidFill>
                  <a:schemeClr val="tx1"/>
                </a:solidFill>
                <a:latin typeface="Courier New" panose="02070309020205020404" pitchFamily="49" charset="0"/>
              </a:rPr>
              <a:t>(</a:t>
            </a:r>
            <a:r>
              <a:rPr kumimoji="1" lang="en-US" altLang="en-US" sz="1600" b="1" kern="0" err="1">
                <a:solidFill>
                  <a:schemeClr val="tx1"/>
                </a:solidFill>
                <a:latin typeface="Courier New" panose="02070309020205020404" pitchFamily="49" charset="0"/>
              </a:rPr>
              <a:t>displayHello</a:t>
            </a:r>
            <a:r>
              <a:rPr kumimoji="1" lang="en-US" altLang="en-US" sz="1600" b="1" kern="0">
                <a:solidFill>
                  <a:schemeClr val="tx1"/>
                </a:solidFill>
                <a:latin typeface="Courier New" panose="02070309020205020404" pitchFamily="49" charset="0"/>
              </a:rPr>
              <a:t>, 1000);</a:t>
            </a:r>
          </a:p>
          <a:p>
            <a:pPr lvl="0" eaLnBrk="0" fontAlgn="base" hangingPunct="0">
              <a:spcBef>
                <a:spcPct val="0"/>
              </a:spcBef>
              <a:spcAft>
                <a:spcPct val="0"/>
              </a:spcAft>
              <a:buClrTx/>
              <a:buSzTx/>
              <a:buNone/>
              <a:defRPr/>
            </a:pPr>
            <a:endParaRPr kumimoji="1" lang="en-US" altLang="en-US" sz="1600" b="1" kern="0">
              <a:solidFill>
                <a:schemeClr val="tx1"/>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err="1">
                <a:solidFill>
                  <a:schemeClr val="tx1"/>
                </a:solidFill>
                <a:latin typeface="Courier New" panose="02070309020205020404" pitchFamily="49" charset="0"/>
              </a:rPr>
              <a:t>setTimeout</a:t>
            </a:r>
            <a:r>
              <a:rPr kumimoji="1" lang="en-US" altLang="en-US" sz="1600" b="1" kern="0">
                <a:solidFill>
                  <a:schemeClr val="tx1"/>
                </a:solidFill>
                <a:latin typeface="Courier New" panose="02070309020205020404" pitchFamily="49" charset="0"/>
              </a:rPr>
              <a:t>(() =&gt; console.log('hello arrow') , 1000);</a:t>
            </a:r>
          </a:p>
          <a:p>
            <a:pPr lvl="0" eaLnBrk="0" fontAlgn="base" hangingPunct="0">
              <a:spcBef>
                <a:spcPct val="0"/>
              </a:spcBef>
              <a:spcAft>
                <a:spcPct val="0"/>
              </a:spcAft>
              <a:buClrTx/>
              <a:buSzTx/>
              <a:buNone/>
              <a:defRPr/>
            </a:pPr>
            <a:endParaRPr kumimoji="1" lang="en-US" altLang="en-US" sz="1600" b="1" kern="0">
              <a:solidFill>
                <a:schemeClr val="tx1"/>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a:solidFill>
                  <a:schemeClr val="tx1"/>
                </a:solidFill>
                <a:latin typeface="Courier New" panose="02070309020205020404" pitchFamily="49" charset="0"/>
              </a:rPr>
              <a:t>console.log('This will be displayed first');</a:t>
            </a:r>
          </a:p>
        </p:txBody>
      </p:sp>
      <p:sp>
        <p:nvSpPr>
          <p:cNvPr id="5" name="Arrow: Left 4">
            <a:extLst>
              <a:ext uri="{FF2B5EF4-FFF2-40B4-BE49-F238E27FC236}">
                <a16:creationId xmlns:a16="http://schemas.microsoft.com/office/drawing/2014/main" id="{E7A7E0AF-F882-4930-9B5D-52390C718379}"/>
              </a:ext>
            </a:extLst>
          </p:cNvPr>
          <p:cNvSpPr/>
          <p:nvPr/>
        </p:nvSpPr>
        <p:spPr>
          <a:xfrm>
            <a:off x="8271984" y="506145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Left 7">
            <a:extLst>
              <a:ext uri="{FF2B5EF4-FFF2-40B4-BE49-F238E27FC236}">
                <a16:creationId xmlns:a16="http://schemas.microsoft.com/office/drawing/2014/main" id="{D5723AC0-AD34-44CF-8AD4-388BB41D7758}"/>
              </a:ext>
            </a:extLst>
          </p:cNvPr>
          <p:cNvSpPr/>
          <p:nvPr/>
        </p:nvSpPr>
        <p:spPr>
          <a:xfrm rot="16200000">
            <a:off x="3402960" y="426353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78225904-43BC-4276-B03A-51FC38D7E218}"/>
              </a:ext>
            </a:extLst>
          </p:cNvPr>
          <p:cNvSpPr txBox="1"/>
          <p:nvPr/>
        </p:nvSpPr>
        <p:spPr>
          <a:xfrm>
            <a:off x="3819053" y="4113566"/>
            <a:ext cx="3144455" cy="369332"/>
          </a:xfrm>
          <a:prstGeom prst="rect">
            <a:avLst/>
          </a:prstGeom>
          <a:noFill/>
        </p:spPr>
        <p:txBody>
          <a:bodyPr wrap="square" rtlCol="0">
            <a:spAutoFit/>
          </a:bodyPr>
          <a:lstStyle/>
          <a:p>
            <a:r>
              <a:rPr lang="en-CA" b="1">
                <a:solidFill>
                  <a:srgbClr val="FF0000"/>
                </a:solidFill>
              </a:rPr>
              <a:t>2  asynchronous callback</a:t>
            </a:r>
          </a:p>
        </p:txBody>
      </p:sp>
      <p:sp>
        <p:nvSpPr>
          <p:cNvPr id="10" name="Arrow: Left 9">
            <a:extLst>
              <a:ext uri="{FF2B5EF4-FFF2-40B4-BE49-F238E27FC236}">
                <a16:creationId xmlns:a16="http://schemas.microsoft.com/office/drawing/2014/main" id="{9D5FB58A-92E6-426A-9AFE-177A937463E2}"/>
              </a:ext>
            </a:extLst>
          </p:cNvPr>
          <p:cNvSpPr/>
          <p:nvPr/>
        </p:nvSpPr>
        <p:spPr>
          <a:xfrm>
            <a:off x="4190130" y="241298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FA3C0033-855C-47AA-B294-FD9AC5021E1E}"/>
              </a:ext>
            </a:extLst>
          </p:cNvPr>
          <p:cNvSpPr txBox="1"/>
          <p:nvPr/>
        </p:nvSpPr>
        <p:spPr>
          <a:xfrm>
            <a:off x="4876830" y="2329110"/>
            <a:ext cx="3395154" cy="369332"/>
          </a:xfrm>
          <a:prstGeom prst="rect">
            <a:avLst/>
          </a:prstGeom>
          <a:noFill/>
        </p:spPr>
        <p:txBody>
          <a:bodyPr wrap="square" rtlCol="0">
            <a:spAutoFit/>
          </a:bodyPr>
          <a:lstStyle/>
          <a:p>
            <a:r>
              <a:rPr lang="en-CA" b="1">
                <a:solidFill>
                  <a:srgbClr val="FF0000"/>
                </a:solidFill>
              </a:rPr>
              <a:t>1  asynchronous callback</a:t>
            </a:r>
          </a:p>
        </p:txBody>
      </p:sp>
      <p:sp>
        <p:nvSpPr>
          <p:cNvPr id="13" name="TextBox 12">
            <a:extLst>
              <a:ext uri="{FF2B5EF4-FFF2-40B4-BE49-F238E27FC236}">
                <a16:creationId xmlns:a16="http://schemas.microsoft.com/office/drawing/2014/main" id="{C9574764-BD9B-4CC9-80A7-C439DB5CA391}"/>
              </a:ext>
            </a:extLst>
          </p:cNvPr>
          <p:cNvSpPr txBox="1"/>
          <p:nvPr/>
        </p:nvSpPr>
        <p:spPr>
          <a:xfrm>
            <a:off x="8838042" y="4871356"/>
            <a:ext cx="1888178" cy="646331"/>
          </a:xfrm>
          <a:prstGeom prst="rect">
            <a:avLst/>
          </a:prstGeom>
          <a:noFill/>
        </p:spPr>
        <p:txBody>
          <a:bodyPr wrap="square" rtlCol="0">
            <a:spAutoFit/>
          </a:bodyPr>
          <a:lstStyle/>
          <a:p>
            <a:r>
              <a:rPr lang="en-CA" b="1">
                <a:solidFill>
                  <a:srgbClr val="FF0000"/>
                </a:solidFill>
              </a:rPr>
              <a:t>3  asynchronous </a:t>
            </a:r>
          </a:p>
          <a:p>
            <a:r>
              <a:rPr lang="en-CA" b="1">
                <a:solidFill>
                  <a:srgbClr val="FF0000"/>
                </a:solidFill>
              </a:rPr>
              <a:t>callback</a:t>
            </a:r>
          </a:p>
        </p:txBody>
      </p:sp>
      <p:sp>
        <p:nvSpPr>
          <p:cNvPr id="6" name="Slide Number Placeholder 5">
            <a:extLst>
              <a:ext uri="{FF2B5EF4-FFF2-40B4-BE49-F238E27FC236}">
                <a16:creationId xmlns:a16="http://schemas.microsoft.com/office/drawing/2014/main" id="{3762FC4B-7B05-4F69-8F82-5D4F6BB732D2}"/>
              </a:ext>
            </a:extLst>
          </p:cNvPr>
          <p:cNvSpPr>
            <a:spLocks noGrp="1"/>
          </p:cNvSpPr>
          <p:nvPr>
            <p:ph type="sldNum" sz="quarter" idx="12"/>
          </p:nvPr>
        </p:nvSpPr>
        <p:spPr/>
        <p:txBody>
          <a:bodyPr/>
          <a:lstStyle/>
          <a:p>
            <a:fld id="{6B7CECC9-8688-4C14-9F38-24140407CAFB}" type="slidenum">
              <a:rPr lang="en-CA" smtClean="0"/>
              <a:t>7</a:t>
            </a:fld>
            <a:endParaRPr lang="en-CA"/>
          </a:p>
        </p:txBody>
      </p:sp>
    </p:spTree>
    <p:extLst>
      <p:ext uri="{BB962C8B-B14F-4D97-AF65-F5344CB8AC3E}">
        <p14:creationId xmlns:p14="http://schemas.microsoft.com/office/powerpoint/2010/main" val="1273981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E9AA4-DCA0-4ADC-962D-77E620F60887}"/>
              </a:ext>
            </a:extLst>
          </p:cNvPr>
          <p:cNvSpPr>
            <a:spLocks noGrp="1"/>
          </p:cNvSpPr>
          <p:nvPr>
            <p:ph type="title"/>
          </p:nvPr>
        </p:nvSpPr>
        <p:spPr/>
        <p:txBody>
          <a:bodyPr/>
          <a:lstStyle/>
          <a:p>
            <a:r>
              <a:rPr lang="en-CA"/>
              <a:t>Promise</a:t>
            </a:r>
          </a:p>
        </p:txBody>
      </p:sp>
      <p:sp>
        <p:nvSpPr>
          <p:cNvPr id="3" name="Content Placeholder 2">
            <a:extLst>
              <a:ext uri="{FF2B5EF4-FFF2-40B4-BE49-F238E27FC236}">
                <a16:creationId xmlns:a16="http://schemas.microsoft.com/office/drawing/2014/main" id="{C5B3AE1F-CCD5-4A05-8657-A8B4A2624334}"/>
              </a:ext>
            </a:extLst>
          </p:cNvPr>
          <p:cNvSpPr>
            <a:spLocks noGrp="1"/>
          </p:cNvSpPr>
          <p:nvPr>
            <p:ph idx="1"/>
          </p:nvPr>
        </p:nvSpPr>
        <p:spPr/>
        <p:txBody>
          <a:bodyPr/>
          <a:lstStyle/>
          <a:p>
            <a:r>
              <a:rPr lang="en-US"/>
              <a:t>Graceful asynchronous programming</a:t>
            </a:r>
          </a:p>
          <a:p>
            <a:r>
              <a:rPr lang="en-US"/>
              <a:t>Based on ECMA Committee, promise is</a:t>
            </a:r>
          </a:p>
          <a:p>
            <a:pPr lvl="1"/>
            <a:r>
              <a:rPr lang="en-US"/>
              <a:t>An object that is used as a placeholder for the eventual results of a deferred (and possibly asynchronous) computation</a:t>
            </a:r>
          </a:p>
          <a:p>
            <a:pPr lvl="2"/>
            <a:r>
              <a:rPr lang="en-US"/>
              <a:t>A JavaScript Object</a:t>
            </a:r>
          </a:p>
          <a:p>
            <a:pPr lvl="2"/>
            <a:r>
              <a:rPr lang="en-US"/>
              <a:t>Always returns a value</a:t>
            </a:r>
            <a:endParaRPr lang="en-CA"/>
          </a:p>
        </p:txBody>
      </p:sp>
      <p:sp>
        <p:nvSpPr>
          <p:cNvPr id="6" name="TextBox 5">
            <a:extLst>
              <a:ext uri="{FF2B5EF4-FFF2-40B4-BE49-F238E27FC236}">
                <a16:creationId xmlns:a16="http://schemas.microsoft.com/office/drawing/2014/main" id="{AAE634BB-7054-4097-BB32-6D1427A572FE}"/>
              </a:ext>
            </a:extLst>
          </p:cNvPr>
          <p:cNvSpPr txBox="1"/>
          <p:nvPr/>
        </p:nvSpPr>
        <p:spPr>
          <a:xfrm>
            <a:off x="2797966" y="4217420"/>
            <a:ext cx="1923121" cy="369332"/>
          </a:xfrm>
          <a:prstGeom prst="rect">
            <a:avLst/>
          </a:prstGeom>
          <a:noFill/>
        </p:spPr>
        <p:txBody>
          <a:bodyPr wrap="square" rtlCol="0">
            <a:spAutoFit/>
          </a:bodyPr>
          <a:lstStyle/>
          <a:p>
            <a:r>
              <a:rPr lang="en-CA" b="1">
                <a:solidFill>
                  <a:srgbClr val="FF0000"/>
                </a:solidFill>
              </a:rPr>
              <a:t>new Promise()</a:t>
            </a:r>
          </a:p>
        </p:txBody>
      </p:sp>
      <p:sp>
        <p:nvSpPr>
          <p:cNvPr id="7" name="TextBox 6">
            <a:extLst>
              <a:ext uri="{FF2B5EF4-FFF2-40B4-BE49-F238E27FC236}">
                <a16:creationId xmlns:a16="http://schemas.microsoft.com/office/drawing/2014/main" id="{FDF02EC6-A214-479E-813C-F1E2DE5DF10E}"/>
              </a:ext>
            </a:extLst>
          </p:cNvPr>
          <p:cNvSpPr txBox="1"/>
          <p:nvPr/>
        </p:nvSpPr>
        <p:spPr>
          <a:xfrm>
            <a:off x="2672084" y="4893249"/>
            <a:ext cx="1923121" cy="369332"/>
          </a:xfrm>
          <a:prstGeom prst="rect">
            <a:avLst/>
          </a:prstGeom>
          <a:noFill/>
        </p:spPr>
        <p:txBody>
          <a:bodyPr wrap="square" rtlCol="0">
            <a:spAutoFit/>
          </a:bodyPr>
          <a:lstStyle/>
          <a:p>
            <a:r>
              <a:rPr lang="en-CA" b="1"/>
              <a:t>state : “pending”</a:t>
            </a:r>
          </a:p>
        </p:txBody>
      </p:sp>
      <p:sp>
        <p:nvSpPr>
          <p:cNvPr id="8" name="TextBox 7">
            <a:extLst>
              <a:ext uri="{FF2B5EF4-FFF2-40B4-BE49-F238E27FC236}">
                <a16:creationId xmlns:a16="http://schemas.microsoft.com/office/drawing/2014/main" id="{7863779F-67E0-4326-8B59-540E04810C16}"/>
              </a:ext>
            </a:extLst>
          </p:cNvPr>
          <p:cNvSpPr txBox="1"/>
          <p:nvPr/>
        </p:nvSpPr>
        <p:spPr>
          <a:xfrm>
            <a:off x="2652206" y="5212852"/>
            <a:ext cx="1923121" cy="369332"/>
          </a:xfrm>
          <a:prstGeom prst="rect">
            <a:avLst/>
          </a:prstGeom>
          <a:noFill/>
        </p:spPr>
        <p:txBody>
          <a:bodyPr wrap="square" rtlCol="0">
            <a:spAutoFit/>
          </a:bodyPr>
          <a:lstStyle/>
          <a:p>
            <a:r>
              <a:rPr lang="en-CA" b="1"/>
              <a:t>result : undefined</a:t>
            </a:r>
          </a:p>
        </p:txBody>
      </p:sp>
      <p:sp>
        <p:nvSpPr>
          <p:cNvPr id="10" name="TextBox 9">
            <a:extLst>
              <a:ext uri="{FF2B5EF4-FFF2-40B4-BE49-F238E27FC236}">
                <a16:creationId xmlns:a16="http://schemas.microsoft.com/office/drawing/2014/main" id="{AEF4C512-160A-4769-BB90-7A86C7C4A536}"/>
              </a:ext>
            </a:extLst>
          </p:cNvPr>
          <p:cNvSpPr txBox="1"/>
          <p:nvPr/>
        </p:nvSpPr>
        <p:spPr>
          <a:xfrm>
            <a:off x="7529024" y="3786040"/>
            <a:ext cx="1923121" cy="369332"/>
          </a:xfrm>
          <a:prstGeom prst="rect">
            <a:avLst/>
          </a:prstGeom>
          <a:noFill/>
        </p:spPr>
        <p:txBody>
          <a:bodyPr wrap="square" rtlCol="0">
            <a:spAutoFit/>
          </a:bodyPr>
          <a:lstStyle/>
          <a:p>
            <a:r>
              <a:rPr lang="en-CA" b="1"/>
              <a:t>state : “fulfilled”</a:t>
            </a:r>
          </a:p>
        </p:txBody>
      </p:sp>
      <p:sp>
        <p:nvSpPr>
          <p:cNvPr id="11" name="TextBox 10">
            <a:extLst>
              <a:ext uri="{FF2B5EF4-FFF2-40B4-BE49-F238E27FC236}">
                <a16:creationId xmlns:a16="http://schemas.microsoft.com/office/drawing/2014/main" id="{999834E7-8F7C-4F60-BB0A-9D81C0BAA7A6}"/>
              </a:ext>
            </a:extLst>
          </p:cNvPr>
          <p:cNvSpPr txBox="1"/>
          <p:nvPr/>
        </p:nvSpPr>
        <p:spPr>
          <a:xfrm>
            <a:off x="7509146" y="4105643"/>
            <a:ext cx="1923121" cy="369332"/>
          </a:xfrm>
          <a:prstGeom prst="rect">
            <a:avLst/>
          </a:prstGeom>
          <a:noFill/>
        </p:spPr>
        <p:txBody>
          <a:bodyPr wrap="square" rtlCol="0">
            <a:spAutoFit/>
          </a:bodyPr>
          <a:lstStyle/>
          <a:p>
            <a:r>
              <a:rPr lang="en-CA" b="1"/>
              <a:t>result : value</a:t>
            </a:r>
          </a:p>
        </p:txBody>
      </p:sp>
      <p:sp>
        <p:nvSpPr>
          <p:cNvPr id="12" name="Oval 11">
            <a:extLst>
              <a:ext uri="{FF2B5EF4-FFF2-40B4-BE49-F238E27FC236}">
                <a16:creationId xmlns:a16="http://schemas.microsoft.com/office/drawing/2014/main" id="{6AC4F307-FFE8-4481-9D7D-3463116D5E71}"/>
              </a:ext>
            </a:extLst>
          </p:cNvPr>
          <p:cNvSpPr/>
          <p:nvPr/>
        </p:nvSpPr>
        <p:spPr>
          <a:xfrm>
            <a:off x="7403526" y="4838512"/>
            <a:ext cx="2154612" cy="11529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C745EE09-AEE4-4EDF-B846-8FC8F2F03AFE}"/>
              </a:ext>
            </a:extLst>
          </p:cNvPr>
          <p:cNvSpPr txBox="1"/>
          <p:nvPr/>
        </p:nvSpPr>
        <p:spPr>
          <a:xfrm>
            <a:off x="7635017" y="5045649"/>
            <a:ext cx="1923121" cy="369332"/>
          </a:xfrm>
          <a:prstGeom prst="rect">
            <a:avLst/>
          </a:prstGeom>
          <a:noFill/>
        </p:spPr>
        <p:txBody>
          <a:bodyPr wrap="square" rtlCol="0">
            <a:spAutoFit/>
          </a:bodyPr>
          <a:lstStyle/>
          <a:p>
            <a:r>
              <a:rPr lang="en-CA" b="1"/>
              <a:t>state : “rejected”</a:t>
            </a:r>
          </a:p>
        </p:txBody>
      </p:sp>
      <p:sp>
        <p:nvSpPr>
          <p:cNvPr id="14" name="TextBox 13">
            <a:extLst>
              <a:ext uri="{FF2B5EF4-FFF2-40B4-BE49-F238E27FC236}">
                <a16:creationId xmlns:a16="http://schemas.microsoft.com/office/drawing/2014/main" id="{2DEF5D67-A283-4783-97B4-24E73B40358F}"/>
              </a:ext>
            </a:extLst>
          </p:cNvPr>
          <p:cNvSpPr txBox="1"/>
          <p:nvPr/>
        </p:nvSpPr>
        <p:spPr>
          <a:xfrm>
            <a:off x="7615139" y="5365252"/>
            <a:ext cx="1923121" cy="369332"/>
          </a:xfrm>
          <a:prstGeom prst="rect">
            <a:avLst/>
          </a:prstGeom>
          <a:noFill/>
        </p:spPr>
        <p:txBody>
          <a:bodyPr wrap="square" rtlCol="0">
            <a:spAutoFit/>
          </a:bodyPr>
          <a:lstStyle/>
          <a:p>
            <a:r>
              <a:rPr lang="en-CA" b="1"/>
              <a:t>result : error</a:t>
            </a:r>
          </a:p>
        </p:txBody>
      </p:sp>
      <p:cxnSp>
        <p:nvCxnSpPr>
          <p:cNvPr id="18" name="Straight Arrow Connector 17">
            <a:extLst>
              <a:ext uri="{FF2B5EF4-FFF2-40B4-BE49-F238E27FC236}">
                <a16:creationId xmlns:a16="http://schemas.microsoft.com/office/drawing/2014/main" id="{A9BA86CC-B632-479B-8813-C7F447241106}"/>
              </a:ext>
            </a:extLst>
          </p:cNvPr>
          <p:cNvCxnSpPr>
            <a:cxnSpLocks/>
          </p:cNvCxnSpPr>
          <p:nvPr/>
        </p:nvCxnSpPr>
        <p:spPr>
          <a:xfrm flipV="1">
            <a:off x="5067198" y="4248381"/>
            <a:ext cx="2087850" cy="713327"/>
          </a:xfrm>
          <a:prstGeom prst="straightConnector1">
            <a:avLst/>
          </a:prstGeom>
          <a:ln w="635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F908AF1-52CE-4061-9CB1-0D0B4F146D6D}"/>
              </a:ext>
            </a:extLst>
          </p:cNvPr>
          <p:cNvCxnSpPr>
            <a:cxnSpLocks/>
          </p:cNvCxnSpPr>
          <p:nvPr/>
        </p:nvCxnSpPr>
        <p:spPr>
          <a:xfrm>
            <a:off x="5103173" y="5329592"/>
            <a:ext cx="2280475" cy="509459"/>
          </a:xfrm>
          <a:prstGeom prst="straightConnector1">
            <a:avLst/>
          </a:prstGeom>
          <a:ln w="635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0027AE3A-2B5D-4EEC-8743-70801E881BB3}"/>
              </a:ext>
            </a:extLst>
          </p:cNvPr>
          <p:cNvSpPr/>
          <p:nvPr/>
        </p:nvSpPr>
        <p:spPr>
          <a:xfrm>
            <a:off x="7383648" y="3579783"/>
            <a:ext cx="2154612" cy="11529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TextBox 25">
            <a:extLst>
              <a:ext uri="{FF2B5EF4-FFF2-40B4-BE49-F238E27FC236}">
                <a16:creationId xmlns:a16="http://schemas.microsoft.com/office/drawing/2014/main" id="{2412D0DF-D149-4882-B8EA-3909EAB87CD4}"/>
              </a:ext>
            </a:extLst>
          </p:cNvPr>
          <p:cNvSpPr txBox="1"/>
          <p:nvPr/>
        </p:nvSpPr>
        <p:spPr>
          <a:xfrm rot="20368998">
            <a:off x="5090807" y="4132144"/>
            <a:ext cx="1923121" cy="369332"/>
          </a:xfrm>
          <a:prstGeom prst="rect">
            <a:avLst/>
          </a:prstGeom>
          <a:noFill/>
        </p:spPr>
        <p:txBody>
          <a:bodyPr wrap="square" rtlCol="0">
            <a:spAutoFit/>
          </a:bodyPr>
          <a:lstStyle/>
          <a:p>
            <a:r>
              <a:rPr lang="en-CA" b="1"/>
              <a:t>resolved(value)</a:t>
            </a:r>
          </a:p>
        </p:txBody>
      </p:sp>
      <p:sp>
        <p:nvSpPr>
          <p:cNvPr id="27" name="TextBox 26">
            <a:extLst>
              <a:ext uri="{FF2B5EF4-FFF2-40B4-BE49-F238E27FC236}">
                <a16:creationId xmlns:a16="http://schemas.microsoft.com/office/drawing/2014/main" id="{D076BFB4-DC3C-43BF-A0DD-4009B2D1BEDC}"/>
              </a:ext>
            </a:extLst>
          </p:cNvPr>
          <p:cNvSpPr txBox="1"/>
          <p:nvPr/>
        </p:nvSpPr>
        <p:spPr>
          <a:xfrm rot="757317">
            <a:off x="5463290" y="5180586"/>
            <a:ext cx="1923121" cy="369332"/>
          </a:xfrm>
          <a:prstGeom prst="rect">
            <a:avLst/>
          </a:prstGeom>
          <a:noFill/>
        </p:spPr>
        <p:txBody>
          <a:bodyPr wrap="square" rtlCol="0">
            <a:spAutoFit/>
          </a:bodyPr>
          <a:lstStyle/>
          <a:p>
            <a:r>
              <a:rPr lang="en-CA" b="1"/>
              <a:t>reject(error)</a:t>
            </a:r>
          </a:p>
        </p:txBody>
      </p:sp>
      <p:sp>
        <p:nvSpPr>
          <p:cNvPr id="29" name="Oval 28">
            <a:extLst>
              <a:ext uri="{FF2B5EF4-FFF2-40B4-BE49-F238E27FC236}">
                <a16:creationId xmlns:a16="http://schemas.microsoft.com/office/drawing/2014/main" id="{D014C765-C306-4016-947A-15567652AB4A}"/>
              </a:ext>
            </a:extLst>
          </p:cNvPr>
          <p:cNvSpPr/>
          <p:nvPr/>
        </p:nvSpPr>
        <p:spPr>
          <a:xfrm>
            <a:off x="2497040" y="4683485"/>
            <a:ext cx="2154612" cy="11529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Slide Number Placeholder 3">
            <a:extLst>
              <a:ext uri="{FF2B5EF4-FFF2-40B4-BE49-F238E27FC236}">
                <a16:creationId xmlns:a16="http://schemas.microsoft.com/office/drawing/2014/main" id="{4DEED3C4-F5D5-4B06-BBC1-8CFA53E815AF}"/>
              </a:ext>
            </a:extLst>
          </p:cNvPr>
          <p:cNvSpPr>
            <a:spLocks noGrp="1"/>
          </p:cNvSpPr>
          <p:nvPr>
            <p:ph type="sldNum" sz="quarter" idx="12"/>
          </p:nvPr>
        </p:nvSpPr>
        <p:spPr/>
        <p:txBody>
          <a:bodyPr/>
          <a:lstStyle/>
          <a:p>
            <a:fld id="{6B7CECC9-8688-4C14-9F38-24140407CAFB}" type="slidenum">
              <a:rPr lang="en-CA" smtClean="0"/>
              <a:t>8</a:t>
            </a:fld>
            <a:endParaRPr lang="en-CA"/>
          </a:p>
        </p:txBody>
      </p:sp>
    </p:spTree>
    <p:extLst>
      <p:ext uri="{BB962C8B-B14F-4D97-AF65-F5344CB8AC3E}">
        <p14:creationId xmlns:p14="http://schemas.microsoft.com/office/powerpoint/2010/main" val="143991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5D8A7D22-0DB6-4D2F-A325-09512DD8C303}"/>
              </a:ext>
            </a:extLst>
          </p:cNvPr>
          <p:cNvSpPr/>
          <p:nvPr/>
        </p:nvSpPr>
        <p:spPr>
          <a:xfrm>
            <a:off x="2465369" y="2690943"/>
            <a:ext cx="1607820" cy="652137"/>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05AC0F63-CD15-4A2A-90AE-F58060FDFB7D}"/>
              </a:ext>
            </a:extLst>
          </p:cNvPr>
          <p:cNvSpPr>
            <a:spLocks noGrp="1"/>
          </p:cNvSpPr>
          <p:nvPr>
            <p:ph type="title"/>
          </p:nvPr>
        </p:nvSpPr>
        <p:spPr/>
        <p:txBody>
          <a:bodyPr/>
          <a:lstStyle/>
          <a:p>
            <a:r>
              <a:rPr lang="en-CA"/>
              <a:t>Creating a Promise Object</a:t>
            </a:r>
          </a:p>
        </p:txBody>
      </p:sp>
      <p:sp>
        <p:nvSpPr>
          <p:cNvPr id="3" name="Content Placeholder 2">
            <a:extLst>
              <a:ext uri="{FF2B5EF4-FFF2-40B4-BE49-F238E27FC236}">
                <a16:creationId xmlns:a16="http://schemas.microsoft.com/office/drawing/2014/main" id="{BF012126-5053-4917-90CB-4760FAB32B5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72C5D465-922A-43C4-9301-576B300C196D}"/>
              </a:ext>
            </a:extLst>
          </p:cNvPr>
          <p:cNvSpPr txBox="1">
            <a:spLocks noChangeArrowheads="1"/>
          </p:cNvSpPr>
          <p:nvPr/>
        </p:nvSpPr>
        <p:spPr bwMode="auto">
          <a:xfrm>
            <a:off x="1797459" y="3805595"/>
            <a:ext cx="9070259" cy="2308324"/>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promise$ = new Promise(function (resolve, reject)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let number = 12;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if (number == 2)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resolve("Your promise is resolved.");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 else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reject('Your promise is rejected.');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5" name="TextBox 4">
            <a:extLst>
              <a:ext uri="{FF2B5EF4-FFF2-40B4-BE49-F238E27FC236}">
                <a16:creationId xmlns:a16="http://schemas.microsoft.com/office/drawing/2014/main" id="{544324EE-FBEB-4F84-9DF3-224A9B0D0A7B}"/>
              </a:ext>
            </a:extLst>
          </p:cNvPr>
          <p:cNvSpPr txBox="1"/>
          <p:nvPr/>
        </p:nvSpPr>
        <p:spPr>
          <a:xfrm>
            <a:off x="2797966" y="2443690"/>
            <a:ext cx="1197565" cy="261610"/>
          </a:xfrm>
          <a:prstGeom prst="rect">
            <a:avLst/>
          </a:prstGeom>
          <a:noFill/>
        </p:spPr>
        <p:txBody>
          <a:bodyPr wrap="square" rtlCol="0">
            <a:spAutoFit/>
          </a:bodyPr>
          <a:lstStyle/>
          <a:p>
            <a:r>
              <a:rPr lang="en-CA" sz="1100" b="1"/>
              <a:t>new Promise()</a:t>
            </a:r>
          </a:p>
        </p:txBody>
      </p:sp>
      <p:sp>
        <p:nvSpPr>
          <p:cNvPr id="6" name="TextBox 5">
            <a:extLst>
              <a:ext uri="{FF2B5EF4-FFF2-40B4-BE49-F238E27FC236}">
                <a16:creationId xmlns:a16="http://schemas.microsoft.com/office/drawing/2014/main" id="{3D8BC3A7-C384-4D1D-85CF-C151BBCB491B}"/>
              </a:ext>
            </a:extLst>
          </p:cNvPr>
          <p:cNvSpPr txBox="1"/>
          <p:nvPr/>
        </p:nvSpPr>
        <p:spPr>
          <a:xfrm>
            <a:off x="2711841" y="2825912"/>
            <a:ext cx="1283690" cy="276999"/>
          </a:xfrm>
          <a:prstGeom prst="rect">
            <a:avLst/>
          </a:prstGeom>
          <a:noFill/>
        </p:spPr>
        <p:txBody>
          <a:bodyPr wrap="square" rtlCol="0">
            <a:spAutoFit/>
          </a:bodyPr>
          <a:lstStyle/>
          <a:p>
            <a:r>
              <a:rPr lang="en-CA" sz="1200" b="1"/>
              <a:t>state : “pending”</a:t>
            </a:r>
          </a:p>
        </p:txBody>
      </p:sp>
      <p:sp>
        <p:nvSpPr>
          <p:cNvPr id="7" name="TextBox 6">
            <a:extLst>
              <a:ext uri="{FF2B5EF4-FFF2-40B4-BE49-F238E27FC236}">
                <a16:creationId xmlns:a16="http://schemas.microsoft.com/office/drawing/2014/main" id="{8F99287F-FAEE-448E-9BA3-827CABDE29EF}"/>
              </a:ext>
            </a:extLst>
          </p:cNvPr>
          <p:cNvSpPr txBox="1"/>
          <p:nvPr/>
        </p:nvSpPr>
        <p:spPr>
          <a:xfrm>
            <a:off x="2675625" y="2969162"/>
            <a:ext cx="1452654" cy="276999"/>
          </a:xfrm>
          <a:prstGeom prst="rect">
            <a:avLst/>
          </a:prstGeom>
          <a:noFill/>
        </p:spPr>
        <p:txBody>
          <a:bodyPr wrap="square" rtlCol="0">
            <a:spAutoFit/>
          </a:bodyPr>
          <a:lstStyle/>
          <a:p>
            <a:r>
              <a:rPr lang="en-CA" sz="1200" b="1"/>
              <a:t>result : undefined</a:t>
            </a:r>
          </a:p>
        </p:txBody>
      </p:sp>
      <p:cxnSp>
        <p:nvCxnSpPr>
          <p:cNvPr id="13" name="Straight Arrow Connector 12">
            <a:extLst>
              <a:ext uri="{FF2B5EF4-FFF2-40B4-BE49-F238E27FC236}">
                <a16:creationId xmlns:a16="http://schemas.microsoft.com/office/drawing/2014/main" id="{12B89142-7286-4274-89B5-1666D6CCF6D4}"/>
              </a:ext>
            </a:extLst>
          </p:cNvPr>
          <p:cNvCxnSpPr>
            <a:cxnSpLocks/>
          </p:cNvCxnSpPr>
          <p:nvPr/>
        </p:nvCxnSpPr>
        <p:spPr>
          <a:xfrm flipV="1">
            <a:off x="4395071" y="2442912"/>
            <a:ext cx="2683461" cy="482877"/>
          </a:xfrm>
          <a:prstGeom prst="straightConnector1">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D6D1813-5F5C-45EA-9839-21B694CD3682}"/>
              </a:ext>
            </a:extLst>
          </p:cNvPr>
          <p:cNvCxnSpPr>
            <a:cxnSpLocks/>
          </p:cNvCxnSpPr>
          <p:nvPr/>
        </p:nvCxnSpPr>
        <p:spPr>
          <a:xfrm>
            <a:off x="4471381" y="3162608"/>
            <a:ext cx="2607151" cy="275125"/>
          </a:xfrm>
          <a:prstGeom prst="straightConnector1">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6702F42-83DD-4B7E-8793-8B753B6999D0}"/>
              </a:ext>
            </a:extLst>
          </p:cNvPr>
          <p:cNvSpPr txBox="1"/>
          <p:nvPr/>
        </p:nvSpPr>
        <p:spPr>
          <a:xfrm rot="20978199">
            <a:off x="5145609" y="2297451"/>
            <a:ext cx="1488150" cy="307777"/>
          </a:xfrm>
          <a:prstGeom prst="rect">
            <a:avLst/>
          </a:prstGeom>
          <a:noFill/>
        </p:spPr>
        <p:txBody>
          <a:bodyPr wrap="square" rtlCol="0">
            <a:spAutoFit/>
          </a:bodyPr>
          <a:lstStyle/>
          <a:p>
            <a:r>
              <a:rPr lang="en-CA" sz="1400" b="1"/>
              <a:t>resolved(value)</a:t>
            </a:r>
          </a:p>
        </p:txBody>
      </p:sp>
      <p:sp>
        <p:nvSpPr>
          <p:cNvPr id="17" name="TextBox 16">
            <a:extLst>
              <a:ext uri="{FF2B5EF4-FFF2-40B4-BE49-F238E27FC236}">
                <a16:creationId xmlns:a16="http://schemas.microsoft.com/office/drawing/2014/main" id="{877EF792-0943-4A16-9240-B5D375E39C61}"/>
              </a:ext>
            </a:extLst>
          </p:cNvPr>
          <p:cNvSpPr txBox="1"/>
          <p:nvPr/>
        </p:nvSpPr>
        <p:spPr>
          <a:xfrm rot="427908">
            <a:off x="5552514" y="3036759"/>
            <a:ext cx="1339269" cy="319071"/>
          </a:xfrm>
          <a:prstGeom prst="rect">
            <a:avLst/>
          </a:prstGeom>
          <a:noFill/>
        </p:spPr>
        <p:txBody>
          <a:bodyPr wrap="square" rtlCol="0">
            <a:spAutoFit/>
          </a:bodyPr>
          <a:lstStyle/>
          <a:p>
            <a:r>
              <a:rPr lang="en-CA" sz="1400" b="1"/>
              <a:t>reject(error)</a:t>
            </a:r>
          </a:p>
        </p:txBody>
      </p:sp>
      <p:sp>
        <p:nvSpPr>
          <p:cNvPr id="23" name="TextBox 22">
            <a:extLst>
              <a:ext uri="{FF2B5EF4-FFF2-40B4-BE49-F238E27FC236}">
                <a16:creationId xmlns:a16="http://schemas.microsoft.com/office/drawing/2014/main" id="{5BA7753F-5766-452F-A6E1-B955E00F96B0}"/>
              </a:ext>
            </a:extLst>
          </p:cNvPr>
          <p:cNvSpPr txBox="1"/>
          <p:nvPr/>
        </p:nvSpPr>
        <p:spPr>
          <a:xfrm>
            <a:off x="7362102" y="2284918"/>
            <a:ext cx="1283690" cy="276999"/>
          </a:xfrm>
          <a:prstGeom prst="rect">
            <a:avLst/>
          </a:prstGeom>
          <a:noFill/>
        </p:spPr>
        <p:txBody>
          <a:bodyPr wrap="square" rtlCol="0">
            <a:spAutoFit/>
          </a:bodyPr>
          <a:lstStyle/>
          <a:p>
            <a:r>
              <a:rPr lang="en-CA" sz="1200" b="1"/>
              <a:t>state : “pending”</a:t>
            </a:r>
          </a:p>
        </p:txBody>
      </p:sp>
      <p:sp>
        <p:nvSpPr>
          <p:cNvPr id="24" name="TextBox 23">
            <a:extLst>
              <a:ext uri="{FF2B5EF4-FFF2-40B4-BE49-F238E27FC236}">
                <a16:creationId xmlns:a16="http://schemas.microsoft.com/office/drawing/2014/main" id="{0A276552-2609-4899-A386-8ED0804D5F7E}"/>
              </a:ext>
            </a:extLst>
          </p:cNvPr>
          <p:cNvSpPr txBox="1"/>
          <p:nvPr/>
        </p:nvSpPr>
        <p:spPr>
          <a:xfrm>
            <a:off x="7325886" y="2428168"/>
            <a:ext cx="1452654" cy="276999"/>
          </a:xfrm>
          <a:prstGeom prst="rect">
            <a:avLst/>
          </a:prstGeom>
          <a:noFill/>
        </p:spPr>
        <p:txBody>
          <a:bodyPr wrap="square" rtlCol="0">
            <a:spAutoFit/>
          </a:bodyPr>
          <a:lstStyle/>
          <a:p>
            <a:r>
              <a:rPr lang="en-CA" sz="1200" b="1"/>
              <a:t>result : undefined</a:t>
            </a:r>
          </a:p>
        </p:txBody>
      </p:sp>
      <p:sp>
        <p:nvSpPr>
          <p:cNvPr id="25" name="Oval 24">
            <a:extLst>
              <a:ext uri="{FF2B5EF4-FFF2-40B4-BE49-F238E27FC236}">
                <a16:creationId xmlns:a16="http://schemas.microsoft.com/office/drawing/2014/main" id="{934809F8-CCF1-48A7-BD6E-9E9EB01A7D9B}"/>
              </a:ext>
            </a:extLst>
          </p:cNvPr>
          <p:cNvSpPr/>
          <p:nvPr/>
        </p:nvSpPr>
        <p:spPr>
          <a:xfrm>
            <a:off x="7170720" y="2160866"/>
            <a:ext cx="1607820" cy="652137"/>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A6A12CE6-D8AC-4C72-AF3A-07AF4B535DA5}"/>
              </a:ext>
            </a:extLst>
          </p:cNvPr>
          <p:cNvSpPr/>
          <p:nvPr/>
        </p:nvSpPr>
        <p:spPr>
          <a:xfrm>
            <a:off x="7170720" y="2170016"/>
            <a:ext cx="1607820" cy="65213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D34D8A41-2DE9-4AB5-AF5D-9C9A64491BFC}"/>
              </a:ext>
            </a:extLst>
          </p:cNvPr>
          <p:cNvSpPr txBox="1"/>
          <p:nvPr/>
        </p:nvSpPr>
        <p:spPr>
          <a:xfrm>
            <a:off x="7471430" y="3139682"/>
            <a:ext cx="1283690" cy="276999"/>
          </a:xfrm>
          <a:prstGeom prst="rect">
            <a:avLst/>
          </a:prstGeom>
          <a:noFill/>
        </p:spPr>
        <p:txBody>
          <a:bodyPr wrap="square" rtlCol="0">
            <a:spAutoFit/>
          </a:bodyPr>
          <a:lstStyle/>
          <a:p>
            <a:r>
              <a:rPr lang="en-CA" sz="1200" b="1"/>
              <a:t>state : “pending”</a:t>
            </a:r>
          </a:p>
        </p:txBody>
      </p:sp>
      <p:sp>
        <p:nvSpPr>
          <p:cNvPr id="28" name="TextBox 27">
            <a:extLst>
              <a:ext uri="{FF2B5EF4-FFF2-40B4-BE49-F238E27FC236}">
                <a16:creationId xmlns:a16="http://schemas.microsoft.com/office/drawing/2014/main" id="{CEB0C5FB-182E-41F3-B89B-3031711F5218}"/>
              </a:ext>
            </a:extLst>
          </p:cNvPr>
          <p:cNvSpPr txBox="1"/>
          <p:nvPr/>
        </p:nvSpPr>
        <p:spPr>
          <a:xfrm>
            <a:off x="7435214" y="3282932"/>
            <a:ext cx="1452654" cy="276999"/>
          </a:xfrm>
          <a:prstGeom prst="rect">
            <a:avLst/>
          </a:prstGeom>
          <a:noFill/>
        </p:spPr>
        <p:txBody>
          <a:bodyPr wrap="square" rtlCol="0">
            <a:spAutoFit/>
          </a:bodyPr>
          <a:lstStyle/>
          <a:p>
            <a:r>
              <a:rPr lang="en-CA" sz="1200" b="1"/>
              <a:t>result : undefined</a:t>
            </a:r>
          </a:p>
        </p:txBody>
      </p:sp>
      <p:sp>
        <p:nvSpPr>
          <p:cNvPr id="29" name="Oval 28">
            <a:extLst>
              <a:ext uri="{FF2B5EF4-FFF2-40B4-BE49-F238E27FC236}">
                <a16:creationId xmlns:a16="http://schemas.microsoft.com/office/drawing/2014/main" id="{92C1A164-0C7A-44DB-B10D-8D86338D928C}"/>
              </a:ext>
            </a:extLst>
          </p:cNvPr>
          <p:cNvSpPr/>
          <p:nvPr/>
        </p:nvSpPr>
        <p:spPr>
          <a:xfrm>
            <a:off x="7280048" y="3015630"/>
            <a:ext cx="1607820" cy="652137"/>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9A52E215-2E1B-4269-BE2B-8B0D4E1EFF80}"/>
              </a:ext>
            </a:extLst>
          </p:cNvPr>
          <p:cNvSpPr/>
          <p:nvPr/>
        </p:nvSpPr>
        <p:spPr>
          <a:xfrm>
            <a:off x="7280048" y="3024780"/>
            <a:ext cx="1607820" cy="65213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Slide Number Placeholder 7">
            <a:extLst>
              <a:ext uri="{FF2B5EF4-FFF2-40B4-BE49-F238E27FC236}">
                <a16:creationId xmlns:a16="http://schemas.microsoft.com/office/drawing/2014/main" id="{64B2F311-A895-421B-A3E3-AF2685BBC184}"/>
              </a:ext>
            </a:extLst>
          </p:cNvPr>
          <p:cNvSpPr>
            <a:spLocks noGrp="1"/>
          </p:cNvSpPr>
          <p:nvPr>
            <p:ph type="sldNum" sz="quarter" idx="12"/>
          </p:nvPr>
        </p:nvSpPr>
        <p:spPr/>
        <p:txBody>
          <a:bodyPr/>
          <a:lstStyle/>
          <a:p>
            <a:fld id="{6B7CECC9-8688-4C14-9F38-24140407CAFB}" type="slidenum">
              <a:rPr lang="en-CA" smtClean="0"/>
              <a:t>9</a:t>
            </a:fld>
            <a:endParaRPr lang="en-CA"/>
          </a:p>
        </p:txBody>
      </p:sp>
    </p:spTree>
    <p:extLst>
      <p:ext uri="{BB962C8B-B14F-4D97-AF65-F5344CB8AC3E}">
        <p14:creationId xmlns:p14="http://schemas.microsoft.com/office/powerpoint/2010/main" val="3935795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378BC-21DC-4076-AA97-C887CEE6BD3A}"/>
              </a:ext>
            </a:extLst>
          </p:cNvPr>
          <p:cNvSpPr>
            <a:spLocks noGrp="1"/>
          </p:cNvSpPr>
          <p:nvPr>
            <p:ph type="title"/>
          </p:nvPr>
        </p:nvSpPr>
        <p:spPr/>
        <p:txBody>
          <a:bodyPr/>
          <a:lstStyle/>
          <a:p>
            <a:r>
              <a:rPr lang="en-CA"/>
              <a:t>Handling a Promise Object Using then()</a:t>
            </a:r>
          </a:p>
        </p:txBody>
      </p:sp>
      <p:sp>
        <p:nvSpPr>
          <p:cNvPr id="3" name="Content Placeholder 2">
            <a:extLst>
              <a:ext uri="{FF2B5EF4-FFF2-40B4-BE49-F238E27FC236}">
                <a16:creationId xmlns:a16="http://schemas.microsoft.com/office/drawing/2014/main" id="{FE056B15-EF2D-427D-9C8C-BC63C9D9C5C8}"/>
              </a:ext>
            </a:extLst>
          </p:cNvPr>
          <p:cNvSpPr>
            <a:spLocks noGrp="1"/>
          </p:cNvSpPr>
          <p:nvPr>
            <p:ph idx="1"/>
          </p:nvPr>
        </p:nvSpPr>
        <p:spPr/>
        <p:txBody>
          <a:bodyPr/>
          <a:lstStyle/>
          <a:p>
            <a:r>
              <a:rPr lang="en-CA"/>
              <a:t>Promise can be consumed by the use of the following functions</a:t>
            </a:r>
          </a:p>
          <a:p>
            <a:pPr lvl="1"/>
            <a:r>
              <a:rPr lang="en-CA"/>
              <a:t>then( resolved, rejected)</a:t>
            </a:r>
          </a:p>
        </p:txBody>
      </p:sp>
      <p:sp>
        <p:nvSpPr>
          <p:cNvPr id="6" name="Text Box 1033">
            <a:extLst>
              <a:ext uri="{FF2B5EF4-FFF2-40B4-BE49-F238E27FC236}">
                <a16:creationId xmlns:a16="http://schemas.microsoft.com/office/drawing/2014/main" id="{C72ABF61-E20C-4CE5-B61B-444DF5816A96}"/>
              </a:ext>
            </a:extLst>
          </p:cNvPr>
          <p:cNvSpPr txBox="1">
            <a:spLocks noChangeArrowheads="1"/>
          </p:cNvSpPr>
          <p:nvPr/>
        </p:nvSpPr>
        <p:spPr bwMode="auto">
          <a:xfrm>
            <a:off x="1577161" y="2734656"/>
            <a:ext cx="9070259" cy="286232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err="1">
                <a:solidFill>
                  <a:srgbClr val="000000"/>
                </a:solidFill>
                <a:latin typeface="Courier New" panose="02070309020205020404" pitchFamily="49" charset="0"/>
              </a:rPr>
              <a:t>promise$.then</a:t>
            </a:r>
            <a:r>
              <a:rPr kumimoji="1" lang="en-US" altLang="en-US" sz="1800" b="1" kern="0" dirty="0">
                <a:solidFill>
                  <a:srgbClr val="000000"/>
                </a:solidFill>
                <a:latin typeface="Courier New" panose="02070309020205020404" pitchFamily="49" charset="0"/>
              </a:rPr>
              <a:t>(function (msg)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console.log(`First argument function - ${msg}`);</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function (msg)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console.log(`Second argument function - ${msg}`);</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6D4D90E7-328B-4323-B589-5E44CD703CD7}"/>
              </a:ext>
            </a:extLst>
          </p:cNvPr>
          <p:cNvSpPr/>
          <p:nvPr/>
        </p:nvSpPr>
        <p:spPr>
          <a:xfrm rot="16200000">
            <a:off x="2812772" y="3206455"/>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7E30DF99-FF0D-42BB-A892-1EFC649C594E}"/>
              </a:ext>
            </a:extLst>
          </p:cNvPr>
          <p:cNvSpPr txBox="1"/>
          <p:nvPr/>
        </p:nvSpPr>
        <p:spPr>
          <a:xfrm>
            <a:off x="1784010" y="2698698"/>
            <a:ext cx="4618744" cy="369332"/>
          </a:xfrm>
          <a:prstGeom prst="rect">
            <a:avLst/>
          </a:prstGeom>
          <a:noFill/>
        </p:spPr>
        <p:txBody>
          <a:bodyPr wrap="square" rtlCol="0">
            <a:spAutoFit/>
          </a:bodyPr>
          <a:lstStyle/>
          <a:p>
            <a:r>
              <a:rPr lang="en-CA" b="1">
                <a:solidFill>
                  <a:srgbClr val="FF0000"/>
                </a:solidFill>
              </a:rPr>
              <a:t>Invoked when promise is resolved or rejected</a:t>
            </a:r>
          </a:p>
        </p:txBody>
      </p:sp>
      <p:sp>
        <p:nvSpPr>
          <p:cNvPr id="8" name="Arrow: Left 7">
            <a:extLst>
              <a:ext uri="{FF2B5EF4-FFF2-40B4-BE49-F238E27FC236}">
                <a16:creationId xmlns:a16="http://schemas.microsoft.com/office/drawing/2014/main" id="{A1D46394-E8E6-4EE4-832E-FD69DC113F97}"/>
              </a:ext>
            </a:extLst>
          </p:cNvPr>
          <p:cNvSpPr/>
          <p:nvPr/>
        </p:nvSpPr>
        <p:spPr>
          <a:xfrm rot="16200000">
            <a:off x="3887992" y="3278448"/>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F10FB7D1-134D-48C3-8501-9CBB0A3F7F0E}"/>
              </a:ext>
            </a:extLst>
          </p:cNvPr>
          <p:cNvSpPr txBox="1"/>
          <p:nvPr/>
        </p:nvSpPr>
        <p:spPr>
          <a:xfrm>
            <a:off x="2931860" y="4344443"/>
            <a:ext cx="5446732" cy="369332"/>
          </a:xfrm>
          <a:prstGeom prst="rect">
            <a:avLst/>
          </a:prstGeom>
          <a:noFill/>
        </p:spPr>
        <p:txBody>
          <a:bodyPr wrap="square" rtlCol="0">
            <a:spAutoFit/>
          </a:bodyPr>
          <a:lstStyle/>
          <a:p>
            <a:r>
              <a:rPr lang="en-CA" b="1">
                <a:solidFill>
                  <a:srgbClr val="FF0000"/>
                </a:solidFill>
              </a:rPr>
              <a:t>Invoked when promise is rejected or an error occurs</a:t>
            </a:r>
          </a:p>
        </p:txBody>
      </p:sp>
      <p:sp>
        <p:nvSpPr>
          <p:cNvPr id="10" name="TextBox 9">
            <a:extLst>
              <a:ext uri="{FF2B5EF4-FFF2-40B4-BE49-F238E27FC236}">
                <a16:creationId xmlns:a16="http://schemas.microsoft.com/office/drawing/2014/main" id="{F4558DDB-BBF5-4056-87F8-18DC049E8138}"/>
              </a:ext>
            </a:extLst>
          </p:cNvPr>
          <p:cNvSpPr txBox="1"/>
          <p:nvPr/>
        </p:nvSpPr>
        <p:spPr>
          <a:xfrm>
            <a:off x="4224649" y="3202967"/>
            <a:ext cx="3719662" cy="369332"/>
          </a:xfrm>
          <a:prstGeom prst="rect">
            <a:avLst/>
          </a:prstGeom>
          <a:noFill/>
        </p:spPr>
        <p:txBody>
          <a:bodyPr wrap="square" rtlCol="0">
            <a:spAutoFit/>
          </a:bodyPr>
          <a:lstStyle/>
          <a:p>
            <a:r>
              <a:rPr lang="en-CA" b="1">
                <a:solidFill>
                  <a:srgbClr val="FF0000"/>
                </a:solidFill>
              </a:rPr>
              <a:t>Invoked when  promise is resolved</a:t>
            </a:r>
          </a:p>
        </p:txBody>
      </p:sp>
      <p:sp>
        <p:nvSpPr>
          <p:cNvPr id="12" name="Arrow: Left 11">
            <a:extLst>
              <a:ext uri="{FF2B5EF4-FFF2-40B4-BE49-F238E27FC236}">
                <a16:creationId xmlns:a16="http://schemas.microsoft.com/office/drawing/2014/main" id="{AF7CEF31-9E1E-490A-B26D-28A1C0647F33}"/>
              </a:ext>
            </a:extLst>
          </p:cNvPr>
          <p:cNvSpPr/>
          <p:nvPr/>
        </p:nvSpPr>
        <p:spPr>
          <a:xfrm rot="16200000">
            <a:off x="2572160" y="4320312"/>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Slide Number Placeholder 3">
            <a:extLst>
              <a:ext uri="{FF2B5EF4-FFF2-40B4-BE49-F238E27FC236}">
                <a16:creationId xmlns:a16="http://schemas.microsoft.com/office/drawing/2014/main" id="{D940C8F1-486F-456F-B842-95B781CDEA3B}"/>
              </a:ext>
            </a:extLst>
          </p:cNvPr>
          <p:cNvSpPr>
            <a:spLocks noGrp="1"/>
          </p:cNvSpPr>
          <p:nvPr>
            <p:ph type="sldNum" sz="quarter" idx="12"/>
          </p:nvPr>
        </p:nvSpPr>
        <p:spPr/>
        <p:txBody>
          <a:bodyPr/>
          <a:lstStyle/>
          <a:p>
            <a:fld id="{6B7CECC9-8688-4C14-9F38-24140407CAFB}" type="slidenum">
              <a:rPr lang="en-CA" smtClean="0"/>
              <a:t>10</a:t>
            </a:fld>
            <a:endParaRPr lang="en-CA"/>
          </a:p>
        </p:txBody>
      </p:sp>
    </p:spTree>
    <p:extLst>
      <p:ext uri="{BB962C8B-B14F-4D97-AF65-F5344CB8AC3E}">
        <p14:creationId xmlns:p14="http://schemas.microsoft.com/office/powerpoint/2010/main" val="1788315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378BC-21DC-4076-AA97-C887CEE6BD3A}"/>
              </a:ext>
            </a:extLst>
          </p:cNvPr>
          <p:cNvSpPr>
            <a:spLocks noGrp="1"/>
          </p:cNvSpPr>
          <p:nvPr>
            <p:ph type="title"/>
          </p:nvPr>
        </p:nvSpPr>
        <p:spPr/>
        <p:txBody>
          <a:bodyPr>
            <a:noAutofit/>
          </a:bodyPr>
          <a:lstStyle/>
          <a:p>
            <a:r>
              <a:rPr lang="en-CA" sz="4200"/>
              <a:t>Handling a Promise Object Using then()/catch()</a:t>
            </a:r>
          </a:p>
        </p:txBody>
      </p:sp>
      <p:sp>
        <p:nvSpPr>
          <p:cNvPr id="3" name="Content Placeholder 2">
            <a:extLst>
              <a:ext uri="{FF2B5EF4-FFF2-40B4-BE49-F238E27FC236}">
                <a16:creationId xmlns:a16="http://schemas.microsoft.com/office/drawing/2014/main" id="{FE056B15-EF2D-427D-9C8C-BC63C9D9C5C8}"/>
              </a:ext>
            </a:extLst>
          </p:cNvPr>
          <p:cNvSpPr>
            <a:spLocks noGrp="1"/>
          </p:cNvSpPr>
          <p:nvPr>
            <p:ph idx="1"/>
          </p:nvPr>
        </p:nvSpPr>
        <p:spPr/>
        <p:txBody>
          <a:bodyPr/>
          <a:lstStyle/>
          <a:p>
            <a:r>
              <a:rPr lang="en-CA"/>
              <a:t>Promise can be consumed by the use of the following functions</a:t>
            </a:r>
          </a:p>
          <a:p>
            <a:pPr lvl="1"/>
            <a:r>
              <a:rPr lang="en-CA"/>
              <a:t>then( resolved, rejected)</a:t>
            </a:r>
          </a:p>
          <a:p>
            <a:pPr lvl="1"/>
            <a:r>
              <a:rPr lang="en-CA"/>
              <a:t>catch() – better way to handle when promise is rejected</a:t>
            </a:r>
          </a:p>
        </p:txBody>
      </p:sp>
      <p:sp>
        <p:nvSpPr>
          <p:cNvPr id="6" name="Text Box 1033">
            <a:extLst>
              <a:ext uri="{FF2B5EF4-FFF2-40B4-BE49-F238E27FC236}">
                <a16:creationId xmlns:a16="http://schemas.microsoft.com/office/drawing/2014/main" id="{C72ABF61-E20C-4CE5-B61B-444DF5816A96}"/>
              </a:ext>
            </a:extLst>
          </p:cNvPr>
          <p:cNvSpPr txBox="1">
            <a:spLocks noChangeArrowheads="1"/>
          </p:cNvSpPr>
          <p:nvPr/>
        </p:nvSpPr>
        <p:spPr bwMode="auto">
          <a:xfrm>
            <a:off x="1577161" y="3166434"/>
            <a:ext cx="9070259" cy="286232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promise$.</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then(function (msg){</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console.log(`${msg}`);</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catch(function ()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console.log('There some error has occurred');</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6D4D90E7-328B-4323-B589-5E44CD703CD7}"/>
              </a:ext>
            </a:extLst>
          </p:cNvPr>
          <p:cNvSpPr/>
          <p:nvPr/>
        </p:nvSpPr>
        <p:spPr>
          <a:xfrm rot="16200000">
            <a:off x="2683905" y="3694514"/>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7E30DF99-FF0D-42BB-A892-1EFC649C594E}"/>
              </a:ext>
            </a:extLst>
          </p:cNvPr>
          <p:cNvSpPr txBox="1"/>
          <p:nvPr/>
        </p:nvSpPr>
        <p:spPr>
          <a:xfrm>
            <a:off x="2785870" y="3223216"/>
            <a:ext cx="4618744" cy="369332"/>
          </a:xfrm>
          <a:prstGeom prst="rect">
            <a:avLst/>
          </a:prstGeom>
          <a:noFill/>
        </p:spPr>
        <p:txBody>
          <a:bodyPr wrap="square" rtlCol="0">
            <a:spAutoFit/>
          </a:bodyPr>
          <a:lstStyle/>
          <a:p>
            <a:r>
              <a:rPr lang="en-CA" b="1">
                <a:solidFill>
                  <a:srgbClr val="FF0000"/>
                </a:solidFill>
              </a:rPr>
              <a:t>Invoked when promise is resolved or rejected</a:t>
            </a:r>
          </a:p>
        </p:txBody>
      </p:sp>
      <p:sp>
        <p:nvSpPr>
          <p:cNvPr id="8" name="Arrow: Left 7">
            <a:extLst>
              <a:ext uri="{FF2B5EF4-FFF2-40B4-BE49-F238E27FC236}">
                <a16:creationId xmlns:a16="http://schemas.microsoft.com/office/drawing/2014/main" id="{A1D46394-E8E6-4EE4-832E-FD69DC113F97}"/>
              </a:ext>
            </a:extLst>
          </p:cNvPr>
          <p:cNvSpPr/>
          <p:nvPr/>
        </p:nvSpPr>
        <p:spPr>
          <a:xfrm rot="16200000">
            <a:off x="2941639" y="4780011"/>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F10FB7D1-134D-48C3-8501-9CBB0A3F7F0E}"/>
              </a:ext>
            </a:extLst>
          </p:cNvPr>
          <p:cNvSpPr txBox="1"/>
          <p:nvPr/>
        </p:nvSpPr>
        <p:spPr>
          <a:xfrm>
            <a:off x="3301339" y="4712694"/>
            <a:ext cx="5446732" cy="369332"/>
          </a:xfrm>
          <a:prstGeom prst="rect">
            <a:avLst/>
          </a:prstGeom>
          <a:noFill/>
        </p:spPr>
        <p:txBody>
          <a:bodyPr wrap="square" rtlCol="0">
            <a:spAutoFit/>
          </a:bodyPr>
          <a:lstStyle/>
          <a:p>
            <a:r>
              <a:rPr lang="en-CA" b="1">
                <a:solidFill>
                  <a:srgbClr val="FF0000"/>
                </a:solidFill>
              </a:rPr>
              <a:t>Invoked when promise is rejected or an error occurs</a:t>
            </a:r>
          </a:p>
        </p:txBody>
      </p:sp>
      <p:sp>
        <p:nvSpPr>
          <p:cNvPr id="10" name="TextBox 9">
            <a:extLst>
              <a:ext uri="{FF2B5EF4-FFF2-40B4-BE49-F238E27FC236}">
                <a16:creationId xmlns:a16="http://schemas.microsoft.com/office/drawing/2014/main" id="{F4558DDB-BBF5-4056-87F8-18DC049E8138}"/>
              </a:ext>
            </a:extLst>
          </p:cNvPr>
          <p:cNvSpPr txBox="1"/>
          <p:nvPr/>
        </p:nvSpPr>
        <p:spPr>
          <a:xfrm>
            <a:off x="3455899" y="3737574"/>
            <a:ext cx="1068119" cy="369332"/>
          </a:xfrm>
          <a:prstGeom prst="rect">
            <a:avLst/>
          </a:prstGeom>
          <a:noFill/>
        </p:spPr>
        <p:txBody>
          <a:bodyPr wrap="square" rtlCol="0">
            <a:spAutoFit/>
          </a:bodyPr>
          <a:lstStyle/>
          <a:p>
            <a:r>
              <a:rPr lang="en-CA" b="1">
                <a:solidFill>
                  <a:srgbClr val="FF0000"/>
                </a:solidFill>
              </a:rPr>
              <a:t>resolved</a:t>
            </a:r>
          </a:p>
        </p:txBody>
      </p:sp>
      <p:sp>
        <p:nvSpPr>
          <p:cNvPr id="12" name="TextBox 11">
            <a:extLst>
              <a:ext uri="{FF2B5EF4-FFF2-40B4-BE49-F238E27FC236}">
                <a16:creationId xmlns:a16="http://schemas.microsoft.com/office/drawing/2014/main" id="{8636D62B-14E6-4155-BCEC-AA33C64BF4D7}"/>
              </a:ext>
            </a:extLst>
          </p:cNvPr>
          <p:cNvSpPr txBox="1"/>
          <p:nvPr/>
        </p:nvSpPr>
        <p:spPr>
          <a:xfrm>
            <a:off x="6402756" y="3601273"/>
            <a:ext cx="4077317" cy="369332"/>
          </a:xfrm>
          <a:prstGeom prst="rect">
            <a:avLst/>
          </a:prstGeom>
          <a:noFill/>
        </p:spPr>
        <p:txBody>
          <a:bodyPr wrap="square" rtlCol="0">
            <a:spAutoFit/>
          </a:bodyPr>
          <a:lstStyle/>
          <a:p>
            <a:r>
              <a:rPr lang="en-CA" b="1">
                <a:solidFill>
                  <a:srgbClr val="7030A0"/>
                </a:solidFill>
              </a:rPr>
              <a:t>Note:  The second function is removed.</a:t>
            </a:r>
          </a:p>
        </p:txBody>
      </p:sp>
      <p:sp>
        <p:nvSpPr>
          <p:cNvPr id="4" name="Slide Number Placeholder 3">
            <a:extLst>
              <a:ext uri="{FF2B5EF4-FFF2-40B4-BE49-F238E27FC236}">
                <a16:creationId xmlns:a16="http://schemas.microsoft.com/office/drawing/2014/main" id="{4E740B77-50DB-487E-BD1A-888D49E1003A}"/>
              </a:ext>
            </a:extLst>
          </p:cNvPr>
          <p:cNvSpPr>
            <a:spLocks noGrp="1"/>
          </p:cNvSpPr>
          <p:nvPr>
            <p:ph type="sldNum" sz="quarter" idx="12"/>
          </p:nvPr>
        </p:nvSpPr>
        <p:spPr/>
        <p:txBody>
          <a:bodyPr/>
          <a:lstStyle/>
          <a:p>
            <a:fld id="{6B7CECC9-8688-4C14-9F38-24140407CAFB}" type="slidenum">
              <a:rPr lang="en-CA" smtClean="0"/>
              <a:t>11</a:t>
            </a:fld>
            <a:endParaRPr lang="en-CA"/>
          </a:p>
        </p:txBody>
      </p:sp>
    </p:spTree>
    <p:extLst>
      <p:ext uri="{BB962C8B-B14F-4D97-AF65-F5344CB8AC3E}">
        <p14:creationId xmlns:p14="http://schemas.microsoft.com/office/powerpoint/2010/main" val="3901149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9066-74B4-44AC-A903-B17830FF3DB0}"/>
              </a:ext>
            </a:extLst>
          </p:cNvPr>
          <p:cNvSpPr>
            <a:spLocks noGrp="1"/>
          </p:cNvSpPr>
          <p:nvPr>
            <p:ph type="title"/>
          </p:nvPr>
        </p:nvSpPr>
        <p:spPr/>
        <p:txBody>
          <a:bodyPr/>
          <a:lstStyle/>
          <a:p>
            <a:r>
              <a:rPr lang="en-CA"/>
              <a:t>Two Code Behaves the Same !</a:t>
            </a:r>
          </a:p>
        </p:txBody>
      </p:sp>
      <p:sp>
        <p:nvSpPr>
          <p:cNvPr id="3" name="Content Placeholder 2">
            <a:extLst>
              <a:ext uri="{FF2B5EF4-FFF2-40B4-BE49-F238E27FC236}">
                <a16:creationId xmlns:a16="http://schemas.microsoft.com/office/drawing/2014/main" id="{6D55DB2F-1B84-435F-BA42-1E200FDC9917}"/>
              </a:ext>
            </a:extLst>
          </p:cNvPr>
          <p:cNvSpPr>
            <a:spLocks noGrp="1"/>
          </p:cNvSpPr>
          <p:nvPr>
            <p:ph idx="1"/>
          </p:nvPr>
        </p:nvSpPr>
        <p:spPr/>
        <p:txBody>
          <a:bodyPr/>
          <a:lstStyle/>
          <a:p>
            <a:r>
              <a:rPr lang="en-CA"/>
              <a:t>Using then()</a:t>
            </a:r>
          </a:p>
          <a:p>
            <a:endParaRPr lang="en-CA"/>
          </a:p>
          <a:p>
            <a:endParaRPr lang="en-CA"/>
          </a:p>
          <a:p>
            <a:endParaRPr lang="en-CA"/>
          </a:p>
          <a:p>
            <a:r>
              <a:rPr lang="en-CA"/>
              <a:t>Using then().catch()</a:t>
            </a:r>
          </a:p>
        </p:txBody>
      </p:sp>
      <p:sp>
        <p:nvSpPr>
          <p:cNvPr id="4" name="Text Box 1033">
            <a:extLst>
              <a:ext uri="{FF2B5EF4-FFF2-40B4-BE49-F238E27FC236}">
                <a16:creationId xmlns:a16="http://schemas.microsoft.com/office/drawing/2014/main" id="{C37008DC-BBF0-410D-810F-F301300819CC}"/>
              </a:ext>
            </a:extLst>
          </p:cNvPr>
          <p:cNvSpPr txBox="1">
            <a:spLocks noChangeArrowheads="1"/>
          </p:cNvSpPr>
          <p:nvPr/>
        </p:nvSpPr>
        <p:spPr bwMode="auto">
          <a:xfrm>
            <a:off x="1560870" y="2333823"/>
            <a:ext cx="9070259" cy="147732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err="1">
                <a:solidFill>
                  <a:srgbClr val="000000"/>
                </a:solidFill>
                <a:latin typeface="Courier New" panose="02070309020205020404" pitchFamily="49" charset="0"/>
              </a:rPr>
              <a:t>promise$.then</a:t>
            </a:r>
            <a:r>
              <a:rPr kumimoji="1" lang="en-US" altLang="en-US" sz="1800" b="1" kern="0" dirty="0">
                <a:solidFill>
                  <a:srgbClr val="000000"/>
                </a:solidFill>
                <a:latin typeface="Courier New" panose="02070309020205020404" pitchFamily="49" charset="0"/>
              </a:rPr>
              <a:t>(function (msg)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console.log(`First argument function - resolved ${msg}`);</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function (msg)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console.log(`Second argument function - rejected ${msg}`);</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Text Box 1033">
            <a:extLst>
              <a:ext uri="{FF2B5EF4-FFF2-40B4-BE49-F238E27FC236}">
                <a16:creationId xmlns:a16="http://schemas.microsoft.com/office/drawing/2014/main" id="{083F5344-4A1F-4F78-917F-DBCCB5506B37}"/>
              </a:ext>
            </a:extLst>
          </p:cNvPr>
          <p:cNvSpPr txBox="1">
            <a:spLocks noChangeArrowheads="1"/>
          </p:cNvSpPr>
          <p:nvPr/>
        </p:nvSpPr>
        <p:spPr bwMode="auto">
          <a:xfrm>
            <a:off x="1560870" y="4376837"/>
            <a:ext cx="9070259" cy="1754326"/>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err="1">
                <a:solidFill>
                  <a:srgbClr val="000000"/>
                </a:solidFill>
                <a:latin typeface="Courier New" panose="02070309020205020404" pitchFamily="49" charset="0"/>
              </a:rPr>
              <a:t>promise$.then</a:t>
            </a:r>
            <a:r>
              <a:rPr kumimoji="1" lang="en-US" altLang="en-US" sz="1800" b="1" kern="0" dirty="0">
                <a:solidFill>
                  <a:srgbClr val="000000"/>
                </a:solidFill>
                <a:latin typeface="Courier New" panose="02070309020205020404" pitchFamily="49" charset="0"/>
              </a:rPr>
              <a:t>(function ()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console.log(`First argument function - ${msg}`);</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catch(function ()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console.log('There Some error has occurred');</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6" name="TextBox 5">
            <a:extLst>
              <a:ext uri="{FF2B5EF4-FFF2-40B4-BE49-F238E27FC236}">
                <a16:creationId xmlns:a16="http://schemas.microsoft.com/office/drawing/2014/main" id="{553B82D1-19A8-406B-B5D3-BCDB3209BFE6}"/>
              </a:ext>
            </a:extLst>
          </p:cNvPr>
          <p:cNvSpPr txBox="1"/>
          <p:nvPr/>
        </p:nvSpPr>
        <p:spPr>
          <a:xfrm>
            <a:off x="6779959" y="5069334"/>
            <a:ext cx="3719662" cy="369332"/>
          </a:xfrm>
          <a:prstGeom prst="rect">
            <a:avLst/>
          </a:prstGeom>
          <a:noFill/>
        </p:spPr>
        <p:txBody>
          <a:bodyPr wrap="square" rtlCol="0">
            <a:spAutoFit/>
          </a:bodyPr>
          <a:lstStyle/>
          <a:p>
            <a:r>
              <a:rPr lang="en-CA" b="1">
                <a:solidFill>
                  <a:srgbClr val="FF0000"/>
                </a:solidFill>
              </a:rPr>
              <a:t>PREFERRED WAY !</a:t>
            </a:r>
          </a:p>
        </p:txBody>
      </p:sp>
      <p:sp>
        <p:nvSpPr>
          <p:cNvPr id="7" name="Slide Number Placeholder 6">
            <a:extLst>
              <a:ext uri="{FF2B5EF4-FFF2-40B4-BE49-F238E27FC236}">
                <a16:creationId xmlns:a16="http://schemas.microsoft.com/office/drawing/2014/main" id="{3DA0201F-E0B9-4025-BCB6-1DA0BF7498E2}"/>
              </a:ext>
            </a:extLst>
          </p:cNvPr>
          <p:cNvSpPr>
            <a:spLocks noGrp="1"/>
          </p:cNvSpPr>
          <p:nvPr>
            <p:ph type="sldNum" sz="quarter" idx="12"/>
          </p:nvPr>
        </p:nvSpPr>
        <p:spPr/>
        <p:txBody>
          <a:bodyPr/>
          <a:lstStyle/>
          <a:p>
            <a:fld id="{6B7CECC9-8688-4C14-9F38-24140407CAFB}" type="slidenum">
              <a:rPr lang="en-CA" smtClean="0"/>
              <a:t>12</a:t>
            </a:fld>
            <a:endParaRPr lang="en-CA"/>
          </a:p>
        </p:txBody>
      </p:sp>
    </p:spTree>
    <p:extLst>
      <p:ext uri="{BB962C8B-B14F-4D97-AF65-F5344CB8AC3E}">
        <p14:creationId xmlns:p14="http://schemas.microsoft.com/office/powerpoint/2010/main" val="2420049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7448-667F-441C-B568-6EF5E56555D4}"/>
              </a:ext>
            </a:extLst>
          </p:cNvPr>
          <p:cNvSpPr>
            <a:spLocks noGrp="1"/>
          </p:cNvSpPr>
          <p:nvPr>
            <p:ph type="title"/>
          </p:nvPr>
        </p:nvSpPr>
        <p:spPr/>
        <p:txBody>
          <a:bodyPr/>
          <a:lstStyle/>
          <a:p>
            <a:r>
              <a:rPr lang="en-CA"/>
              <a:t>Handling a Promise Object – Fat Arrows</a:t>
            </a:r>
          </a:p>
        </p:txBody>
      </p:sp>
      <p:sp>
        <p:nvSpPr>
          <p:cNvPr id="3" name="Content Placeholder 2">
            <a:extLst>
              <a:ext uri="{FF2B5EF4-FFF2-40B4-BE49-F238E27FC236}">
                <a16:creationId xmlns:a16="http://schemas.microsoft.com/office/drawing/2014/main" id="{ACA0BE8E-5D0E-4FE2-A6A0-4F0335BC0BA1}"/>
              </a:ext>
            </a:extLst>
          </p:cNvPr>
          <p:cNvSpPr>
            <a:spLocks noGrp="1"/>
          </p:cNvSpPr>
          <p:nvPr>
            <p:ph idx="1"/>
          </p:nvPr>
        </p:nvSpPr>
        <p:spPr/>
        <p:txBody>
          <a:bodyPr/>
          <a:lstStyle/>
          <a:p>
            <a:r>
              <a:rPr lang="en-CA"/>
              <a:t>Using the then() method</a:t>
            </a:r>
          </a:p>
          <a:p>
            <a:endParaRPr lang="en-CA"/>
          </a:p>
          <a:p>
            <a:endParaRPr lang="en-CA"/>
          </a:p>
          <a:p>
            <a:endParaRPr lang="en-CA"/>
          </a:p>
          <a:p>
            <a:r>
              <a:rPr lang="en-CA"/>
              <a:t>Using then() and catch()</a:t>
            </a:r>
          </a:p>
        </p:txBody>
      </p:sp>
      <p:sp>
        <p:nvSpPr>
          <p:cNvPr id="5" name="Text Box 1033">
            <a:extLst>
              <a:ext uri="{FF2B5EF4-FFF2-40B4-BE49-F238E27FC236}">
                <a16:creationId xmlns:a16="http://schemas.microsoft.com/office/drawing/2014/main" id="{CE589FBB-57E2-4E4F-8427-525AAA8C2863}"/>
              </a:ext>
            </a:extLst>
          </p:cNvPr>
          <p:cNvSpPr txBox="1">
            <a:spLocks noChangeArrowheads="1"/>
          </p:cNvSpPr>
          <p:nvPr/>
        </p:nvSpPr>
        <p:spPr bwMode="auto">
          <a:xfrm>
            <a:off x="2493029" y="2508875"/>
            <a:ext cx="7205940" cy="120032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promise$.then</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msg =&gt; console.log(msg),</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error =&gt; console.log(error)</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6" name="Text Box 1033">
            <a:extLst>
              <a:ext uri="{FF2B5EF4-FFF2-40B4-BE49-F238E27FC236}">
                <a16:creationId xmlns:a16="http://schemas.microsoft.com/office/drawing/2014/main" id="{60CC7380-11E7-49A2-A27C-A5361C2939E9}"/>
              </a:ext>
            </a:extLst>
          </p:cNvPr>
          <p:cNvSpPr txBox="1">
            <a:spLocks noChangeArrowheads="1"/>
          </p:cNvSpPr>
          <p:nvPr/>
        </p:nvSpPr>
        <p:spPr bwMode="auto">
          <a:xfrm>
            <a:off x="2493029" y="4392454"/>
            <a:ext cx="7291051" cy="147732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promise$.then</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msg =&gt; console.log(msg)</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catch(</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error =&gt; console.log(error)</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7" name="TextBox 6">
            <a:extLst>
              <a:ext uri="{FF2B5EF4-FFF2-40B4-BE49-F238E27FC236}">
                <a16:creationId xmlns:a16="http://schemas.microsoft.com/office/drawing/2014/main" id="{0134B79C-F77B-4A16-A35C-2C2023E73D1D}"/>
              </a:ext>
            </a:extLst>
          </p:cNvPr>
          <p:cNvSpPr txBox="1"/>
          <p:nvPr/>
        </p:nvSpPr>
        <p:spPr>
          <a:xfrm>
            <a:off x="7168579" y="4680714"/>
            <a:ext cx="2306891" cy="369332"/>
          </a:xfrm>
          <a:prstGeom prst="rect">
            <a:avLst/>
          </a:prstGeom>
          <a:noFill/>
        </p:spPr>
        <p:txBody>
          <a:bodyPr wrap="square" rtlCol="0">
            <a:spAutoFit/>
          </a:bodyPr>
          <a:lstStyle/>
          <a:p>
            <a:r>
              <a:rPr lang="en-CA" b="1">
                <a:solidFill>
                  <a:srgbClr val="FF0000"/>
                </a:solidFill>
              </a:rPr>
              <a:t>PREFERRED WAY !</a:t>
            </a:r>
          </a:p>
        </p:txBody>
      </p:sp>
      <p:sp>
        <p:nvSpPr>
          <p:cNvPr id="4" name="Slide Number Placeholder 3">
            <a:extLst>
              <a:ext uri="{FF2B5EF4-FFF2-40B4-BE49-F238E27FC236}">
                <a16:creationId xmlns:a16="http://schemas.microsoft.com/office/drawing/2014/main" id="{D8781275-4300-49B1-B6ED-EF145705DF61}"/>
              </a:ext>
            </a:extLst>
          </p:cNvPr>
          <p:cNvSpPr>
            <a:spLocks noGrp="1"/>
          </p:cNvSpPr>
          <p:nvPr>
            <p:ph type="sldNum" sz="quarter" idx="12"/>
          </p:nvPr>
        </p:nvSpPr>
        <p:spPr/>
        <p:txBody>
          <a:bodyPr/>
          <a:lstStyle/>
          <a:p>
            <a:fld id="{6B7CECC9-8688-4C14-9F38-24140407CAFB}" type="slidenum">
              <a:rPr lang="en-CA" smtClean="0"/>
              <a:t>13</a:t>
            </a:fld>
            <a:endParaRPr lang="en-CA"/>
          </a:p>
        </p:txBody>
      </p:sp>
    </p:spTree>
    <p:extLst>
      <p:ext uri="{BB962C8B-B14F-4D97-AF65-F5344CB8AC3E}">
        <p14:creationId xmlns:p14="http://schemas.microsoft.com/office/powerpoint/2010/main" val="3899675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CB4BD-D9A7-426F-AA83-0185617B95EC}"/>
              </a:ext>
            </a:extLst>
          </p:cNvPr>
          <p:cNvSpPr>
            <a:spLocks noGrp="1"/>
          </p:cNvSpPr>
          <p:nvPr>
            <p:ph type="title"/>
          </p:nvPr>
        </p:nvSpPr>
        <p:spPr/>
        <p:txBody>
          <a:bodyPr/>
          <a:lstStyle/>
          <a:p>
            <a:r>
              <a:rPr lang="en-CA"/>
              <a:t>Function Returning a Promise</a:t>
            </a:r>
          </a:p>
        </p:txBody>
      </p:sp>
      <p:sp>
        <p:nvSpPr>
          <p:cNvPr id="3" name="Content Placeholder 2">
            <a:extLst>
              <a:ext uri="{FF2B5EF4-FFF2-40B4-BE49-F238E27FC236}">
                <a16:creationId xmlns:a16="http://schemas.microsoft.com/office/drawing/2014/main" id="{83038D59-0EA6-4E18-AE46-7D7D69005006}"/>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85885F89-8A46-4DC9-8B31-E0EB576EE1EA}"/>
              </a:ext>
            </a:extLst>
          </p:cNvPr>
          <p:cNvSpPr txBox="1">
            <a:spLocks noChangeArrowheads="1"/>
          </p:cNvSpPr>
          <p:nvPr/>
        </p:nvSpPr>
        <p:spPr bwMode="auto">
          <a:xfrm>
            <a:off x="1598360" y="2117288"/>
            <a:ext cx="8784265" cy="369331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function </a:t>
            </a:r>
            <a:r>
              <a:rPr kumimoji="1" lang="en-US" altLang="en-US" sz="1800" b="1" kern="0" dirty="0" err="1">
                <a:solidFill>
                  <a:srgbClr val="000000"/>
                </a:solidFill>
                <a:latin typeface="Courier New" panose="02070309020205020404" pitchFamily="49" charset="0"/>
              </a:rPr>
              <a:t>chainedPromise</a:t>
            </a:r>
            <a:r>
              <a:rPr kumimoji="1" lang="en-US" altLang="en-US" sz="1800" b="1" kern="0" dirty="0">
                <a:solidFill>
                  <a:srgbClr val="000000"/>
                </a:solidFill>
                <a:latin typeface="Courier New" panose="02070309020205020404" pitchFamily="49" charset="0"/>
              </a:rPr>
              <a:t>(number) {</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let promise$ = new Promise(function (resolve, reject)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if (number == 2)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console.log(`Value of number is ${number}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console.log(`Your promise is resolved.`);</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else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reject(‘Your promise is rejected.');</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return promise$;</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03D02EB3-9F9C-4EA1-9469-81B17558C778}"/>
              </a:ext>
            </a:extLst>
          </p:cNvPr>
          <p:cNvSpPr/>
          <p:nvPr/>
        </p:nvSpPr>
        <p:spPr>
          <a:xfrm rot="16200000">
            <a:off x="3083095" y="2628217"/>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18F2DCF7-9CED-4E8A-8A95-A2275D2B00B7}"/>
              </a:ext>
            </a:extLst>
          </p:cNvPr>
          <p:cNvSpPr txBox="1"/>
          <p:nvPr/>
        </p:nvSpPr>
        <p:spPr>
          <a:xfrm>
            <a:off x="3442794" y="2662150"/>
            <a:ext cx="2081281" cy="369332"/>
          </a:xfrm>
          <a:prstGeom prst="rect">
            <a:avLst/>
          </a:prstGeom>
          <a:noFill/>
        </p:spPr>
        <p:txBody>
          <a:bodyPr wrap="square" rtlCol="0">
            <a:spAutoFit/>
          </a:bodyPr>
          <a:lstStyle/>
          <a:p>
            <a:r>
              <a:rPr lang="en-CA" b="1">
                <a:solidFill>
                  <a:srgbClr val="FF0000"/>
                </a:solidFill>
              </a:rPr>
              <a:t>Promise created</a:t>
            </a:r>
          </a:p>
        </p:txBody>
      </p:sp>
      <p:sp>
        <p:nvSpPr>
          <p:cNvPr id="7" name="Arrow: Left 6">
            <a:extLst>
              <a:ext uri="{FF2B5EF4-FFF2-40B4-BE49-F238E27FC236}">
                <a16:creationId xmlns:a16="http://schemas.microsoft.com/office/drawing/2014/main" id="{635E4D2C-ABA0-4C0C-9A61-ABE67D062D6E}"/>
              </a:ext>
            </a:extLst>
          </p:cNvPr>
          <p:cNvSpPr/>
          <p:nvPr/>
        </p:nvSpPr>
        <p:spPr>
          <a:xfrm>
            <a:off x="4483434" y="5200783"/>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99D4CC60-4754-49F2-B8B3-6F5E64290D2E}"/>
              </a:ext>
            </a:extLst>
          </p:cNvPr>
          <p:cNvSpPr txBox="1"/>
          <p:nvPr/>
        </p:nvSpPr>
        <p:spPr>
          <a:xfrm>
            <a:off x="5075020" y="5089185"/>
            <a:ext cx="2755153" cy="369332"/>
          </a:xfrm>
          <a:prstGeom prst="rect">
            <a:avLst/>
          </a:prstGeom>
          <a:noFill/>
        </p:spPr>
        <p:txBody>
          <a:bodyPr wrap="square" rtlCol="0">
            <a:spAutoFit/>
          </a:bodyPr>
          <a:lstStyle/>
          <a:p>
            <a:r>
              <a:rPr lang="en-CA" b="1">
                <a:solidFill>
                  <a:srgbClr val="FF0000"/>
                </a:solidFill>
              </a:rPr>
              <a:t>Promise as return value</a:t>
            </a:r>
          </a:p>
        </p:txBody>
      </p:sp>
      <p:sp>
        <p:nvSpPr>
          <p:cNvPr id="9" name="Slide Number Placeholder 8">
            <a:extLst>
              <a:ext uri="{FF2B5EF4-FFF2-40B4-BE49-F238E27FC236}">
                <a16:creationId xmlns:a16="http://schemas.microsoft.com/office/drawing/2014/main" id="{DD365F2C-C1A2-45FA-92ED-9868395B50CC}"/>
              </a:ext>
            </a:extLst>
          </p:cNvPr>
          <p:cNvSpPr>
            <a:spLocks noGrp="1"/>
          </p:cNvSpPr>
          <p:nvPr>
            <p:ph type="sldNum" sz="quarter" idx="12"/>
          </p:nvPr>
        </p:nvSpPr>
        <p:spPr/>
        <p:txBody>
          <a:bodyPr/>
          <a:lstStyle/>
          <a:p>
            <a:fld id="{6B7CECC9-8688-4C14-9F38-24140407CAFB}" type="slidenum">
              <a:rPr lang="en-CA" smtClean="0"/>
              <a:t>14</a:t>
            </a:fld>
            <a:endParaRPr lang="en-CA"/>
          </a:p>
        </p:txBody>
      </p:sp>
    </p:spTree>
    <p:extLst>
      <p:ext uri="{BB962C8B-B14F-4D97-AF65-F5344CB8AC3E}">
        <p14:creationId xmlns:p14="http://schemas.microsoft.com/office/powerpoint/2010/main" val="3257993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15E22-2E72-40EA-A12E-465F57AE2F7E}"/>
              </a:ext>
            </a:extLst>
          </p:cNvPr>
          <p:cNvSpPr>
            <a:spLocks noGrp="1"/>
          </p:cNvSpPr>
          <p:nvPr>
            <p:ph type="title"/>
          </p:nvPr>
        </p:nvSpPr>
        <p:spPr/>
        <p:txBody>
          <a:bodyPr/>
          <a:lstStyle/>
          <a:p>
            <a:r>
              <a:rPr lang="en-CA"/>
              <a:t>Chained Promise – Scenario 1</a:t>
            </a:r>
          </a:p>
        </p:txBody>
      </p:sp>
      <p:sp>
        <p:nvSpPr>
          <p:cNvPr id="3" name="Content Placeholder 2">
            <a:extLst>
              <a:ext uri="{FF2B5EF4-FFF2-40B4-BE49-F238E27FC236}">
                <a16:creationId xmlns:a16="http://schemas.microsoft.com/office/drawing/2014/main" id="{03B40003-53EC-4AFE-961B-1D17A76BF435}"/>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AC4039C4-2CBA-4E45-B691-8CA5F4C246BA}"/>
              </a:ext>
            </a:extLst>
          </p:cNvPr>
          <p:cNvSpPr txBox="1">
            <a:spLocks noChangeArrowheads="1"/>
          </p:cNvSpPr>
          <p:nvPr/>
        </p:nvSpPr>
        <p:spPr bwMode="auto">
          <a:xfrm>
            <a:off x="2515298" y="1884333"/>
            <a:ext cx="8214960" cy="4031873"/>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console.log(`Scenario 1 output`);</a:t>
            </a:r>
          </a:p>
          <a:p>
            <a:pPr lvl="0" eaLnBrk="0" fontAlgn="base" hangingPunct="0">
              <a:spcBef>
                <a:spcPct val="0"/>
              </a:spcBef>
              <a:spcAft>
                <a:spcPct val="0"/>
              </a:spcAft>
              <a:buClrTx/>
              <a:buSzTx/>
              <a:buNone/>
              <a:defRPr/>
            </a:pPr>
            <a:endParaRPr kumimoji="1" lang="en-US" altLang="en-US" sz="16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6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dirty="0" err="1">
                <a:solidFill>
                  <a:srgbClr val="000000"/>
                </a:solidFill>
                <a:latin typeface="Courier New" panose="02070309020205020404" pitchFamily="49" charset="0"/>
              </a:rPr>
              <a:t>chainedPromise</a:t>
            </a:r>
            <a:r>
              <a:rPr kumimoji="1" lang="en-US" altLang="en-US" sz="1600" b="1" kern="0" dirty="0">
                <a:solidFill>
                  <a:srgbClr val="000000"/>
                </a:solidFill>
                <a:latin typeface="Courier New" panose="02070309020205020404" pitchFamily="49" charset="0"/>
              </a:rPr>
              <a:t>(2).then(() =&gt; {</a:t>
            </a:r>
          </a:p>
          <a:p>
            <a:pPr lvl="2"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console.log("first then");</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a:t>
            </a:r>
          </a:p>
          <a:p>
            <a:pPr lvl="2"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return </a:t>
            </a:r>
            <a:r>
              <a:rPr kumimoji="1" lang="en-US" altLang="en-US" sz="1600" b="1" kern="0" dirty="0" err="1">
                <a:solidFill>
                  <a:srgbClr val="000000"/>
                </a:solidFill>
                <a:latin typeface="Courier New" panose="02070309020205020404" pitchFamily="49" charset="0"/>
              </a:rPr>
              <a:t>chainedPromise</a:t>
            </a:r>
            <a:r>
              <a:rPr kumimoji="1" lang="en-US" altLang="en-US" sz="1600" b="1" kern="0" dirty="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a:t>
            </a:r>
          </a:p>
          <a:p>
            <a:pPr lvl="1"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then(() =&gt; {</a:t>
            </a:r>
          </a:p>
          <a:p>
            <a:pPr lvl="2"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console.log("second then");</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a:t>
            </a:r>
          </a:p>
          <a:p>
            <a:pPr lvl="2"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return </a:t>
            </a:r>
            <a:r>
              <a:rPr kumimoji="1" lang="en-US" altLang="en-US" sz="1600" b="1" kern="0" dirty="0" err="1">
                <a:solidFill>
                  <a:srgbClr val="000000"/>
                </a:solidFill>
                <a:latin typeface="Courier New" panose="02070309020205020404" pitchFamily="49" charset="0"/>
              </a:rPr>
              <a:t>chainedPromise</a:t>
            </a:r>
            <a:r>
              <a:rPr kumimoji="1" lang="en-US" altLang="en-US" sz="1600" b="1" kern="0" dirty="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a:t>
            </a:r>
          </a:p>
          <a:p>
            <a:pPr lvl="1"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catch( error =&gt; console.log(error));</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55BD3A5A-2078-407E-A87B-6F22AD178B64}"/>
              </a:ext>
            </a:extLst>
          </p:cNvPr>
          <p:cNvSpPr/>
          <p:nvPr/>
        </p:nvSpPr>
        <p:spPr>
          <a:xfrm rot="16200000">
            <a:off x="2712986" y="2379286"/>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4A04E29B-8FDC-45F4-B702-270A18B03498}"/>
              </a:ext>
            </a:extLst>
          </p:cNvPr>
          <p:cNvSpPr txBox="1"/>
          <p:nvPr/>
        </p:nvSpPr>
        <p:spPr>
          <a:xfrm>
            <a:off x="3092808" y="2154211"/>
            <a:ext cx="1882641" cy="523220"/>
          </a:xfrm>
          <a:prstGeom prst="rect">
            <a:avLst/>
          </a:prstGeom>
          <a:noFill/>
        </p:spPr>
        <p:txBody>
          <a:bodyPr wrap="square" rtlCol="0">
            <a:spAutoFit/>
          </a:bodyPr>
          <a:lstStyle/>
          <a:p>
            <a:r>
              <a:rPr lang="en-CA" sz="1400" b="1">
                <a:solidFill>
                  <a:srgbClr val="FF0000"/>
                </a:solidFill>
              </a:rPr>
              <a:t>Invoke a function that returns a Promise</a:t>
            </a:r>
          </a:p>
        </p:txBody>
      </p:sp>
      <p:sp>
        <p:nvSpPr>
          <p:cNvPr id="7" name="Arrow: Left 6">
            <a:extLst>
              <a:ext uri="{FF2B5EF4-FFF2-40B4-BE49-F238E27FC236}">
                <a16:creationId xmlns:a16="http://schemas.microsoft.com/office/drawing/2014/main" id="{852F0D76-3C89-4CA3-8AD0-E4C7A3233A28}"/>
              </a:ext>
            </a:extLst>
          </p:cNvPr>
          <p:cNvSpPr/>
          <p:nvPr/>
        </p:nvSpPr>
        <p:spPr>
          <a:xfrm rot="16200000">
            <a:off x="4873484" y="2337980"/>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061541B-49DD-40BF-B6C1-BD9F535E35CF}"/>
              </a:ext>
            </a:extLst>
          </p:cNvPr>
          <p:cNvSpPr txBox="1"/>
          <p:nvPr/>
        </p:nvSpPr>
        <p:spPr>
          <a:xfrm>
            <a:off x="5236562" y="2279644"/>
            <a:ext cx="2081281" cy="307777"/>
          </a:xfrm>
          <a:prstGeom prst="rect">
            <a:avLst/>
          </a:prstGeom>
          <a:noFill/>
        </p:spPr>
        <p:txBody>
          <a:bodyPr wrap="square" rtlCol="0">
            <a:spAutoFit/>
          </a:bodyPr>
          <a:lstStyle/>
          <a:p>
            <a:r>
              <a:rPr lang="en-CA" sz="1400" b="1">
                <a:solidFill>
                  <a:srgbClr val="FF0000"/>
                </a:solidFill>
              </a:rPr>
              <a:t>Promise handler</a:t>
            </a:r>
          </a:p>
        </p:txBody>
      </p:sp>
      <p:sp>
        <p:nvSpPr>
          <p:cNvPr id="9" name="Arrow: Left 8">
            <a:extLst>
              <a:ext uri="{FF2B5EF4-FFF2-40B4-BE49-F238E27FC236}">
                <a16:creationId xmlns:a16="http://schemas.microsoft.com/office/drawing/2014/main" id="{A796191E-AE5B-4CED-ADDF-F4A0A7D638DE}"/>
              </a:ext>
            </a:extLst>
          </p:cNvPr>
          <p:cNvSpPr/>
          <p:nvPr/>
        </p:nvSpPr>
        <p:spPr>
          <a:xfrm rot="16200000">
            <a:off x="3686095" y="3290526"/>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D0DDE70C-BC15-49C1-B10A-AEA4E0D87B6E}"/>
              </a:ext>
            </a:extLst>
          </p:cNvPr>
          <p:cNvSpPr txBox="1"/>
          <p:nvPr/>
        </p:nvSpPr>
        <p:spPr>
          <a:xfrm>
            <a:off x="3985341" y="3220008"/>
            <a:ext cx="6724766" cy="307777"/>
          </a:xfrm>
          <a:prstGeom prst="rect">
            <a:avLst/>
          </a:prstGeom>
          <a:noFill/>
        </p:spPr>
        <p:txBody>
          <a:bodyPr wrap="square" rtlCol="0">
            <a:spAutoFit/>
          </a:bodyPr>
          <a:lstStyle/>
          <a:p>
            <a:r>
              <a:rPr lang="en-CA" sz="1400" b="1">
                <a:solidFill>
                  <a:srgbClr val="FF0000"/>
                </a:solidFill>
              </a:rPr>
              <a:t>When the function is resolved, the return keyword will   call </a:t>
            </a:r>
            <a:r>
              <a:rPr lang="en-CA" sz="1400" b="1" err="1">
                <a:solidFill>
                  <a:srgbClr val="FF0000"/>
                </a:solidFill>
              </a:rPr>
              <a:t>chainedPromise</a:t>
            </a:r>
            <a:r>
              <a:rPr lang="en-CA" sz="1400" b="1">
                <a:solidFill>
                  <a:srgbClr val="FF0000"/>
                </a:solidFill>
              </a:rPr>
              <a:t> function</a:t>
            </a:r>
          </a:p>
        </p:txBody>
      </p:sp>
      <p:sp>
        <p:nvSpPr>
          <p:cNvPr id="11" name="Arrow: Left 10">
            <a:extLst>
              <a:ext uri="{FF2B5EF4-FFF2-40B4-BE49-F238E27FC236}">
                <a16:creationId xmlns:a16="http://schemas.microsoft.com/office/drawing/2014/main" id="{5CFA0545-220F-45A2-BB1F-7DFC8D12A80E}"/>
              </a:ext>
            </a:extLst>
          </p:cNvPr>
          <p:cNvSpPr/>
          <p:nvPr/>
        </p:nvSpPr>
        <p:spPr>
          <a:xfrm rot="16200000">
            <a:off x="2965129" y="3752191"/>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B7291268-28EC-480C-A26B-D8FA365C49A9}"/>
              </a:ext>
            </a:extLst>
          </p:cNvPr>
          <p:cNvSpPr txBox="1"/>
          <p:nvPr/>
        </p:nvSpPr>
        <p:spPr>
          <a:xfrm>
            <a:off x="3324829" y="3852595"/>
            <a:ext cx="2081281" cy="307777"/>
          </a:xfrm>
          <a:prstGeom prst="rect">
            <a:avLst/>
          </a:prstGeom>
          <a:noFill/>
        </p:spPr>
        <p:txBody>
          <a:bodyPr wrap="square" rtlCol="0">
            <a:spAutoFit/>
          </a:bodyPr>
          <a:lstStyle/>
          <a:p>
            <a:r>
              <a:rPr lang="en-CA" sz="1400" b="1">
                <a:solidFill>
                  <a:srgbClr val="FF0000"/>
                </a:solidFill>
              </a:rPr>
              <a:t>Promise handler</a:t>
            </a:r>
          </a:p>
        </p:txBody>
      </p:sp>
      <p:sp>
        <p:nvSpPr>
          <p:cNvPr id="13" name="Arrow: Left 12">
            <a:extLst>
              <a:ext uri="{FF2B5EF4-FFF2-40B4-BE49-F238E27FC236}">
                <a16:creationId xmlns:a16="http://schemas.microsoft.com/office/drawing/2014/main" id="{3EEE1166-FCEA-41AA-BDD6-2FD589478811}"/>
              </a:ext>
            </a:extLst>
          </p:cNvPr>
          <p:cNvSpPr/>
          <p:nvPr/>
        </p:nvSpPr>
        <p:spPr>
          <a:xfrm rot="16200000">
            <a:off x="3774660" y="4770381"/>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09C18F58-EAF9-48BB-90AA-9F7C3191F79C}"/>
              </a:ext>
            </a:extLst>
          </p:cNvPr>
          <p:cNvSpPr txBox="1"/>
          <p:nvPr/>
        </p:nvSpPr>
        <p:spPr>
          <a:xfrm>
            <a:off x="4116601" y="4668415"/>
            <a:ext cx="6724766" cy="338554"/>
          </a:xfrm>
          <a:prstGeom prst="rect">
            <a:avLst/>
          </a:prstGeom>
          <a:noFill/>
        </p:spPr>
        <p:txBody>
          <a:bodyPr wrap="square" rtlCol="0">
            <a:spAutoFit/>
          </a:bodyPr>
          <a:lstStyle/>
          <a:p>
            <a:r>
              <a:rPr lang="en-CA" sz="1600" b="1">
                <a:solidFill>
                  <a:srgbClr val="FF0000"/>
                </a:solidFill>
              </a:rPr>
              <a:t>When the function is resolved, the return keyword will call </a:t>
            </a:r>
            <a:r>
              <a:rPr lang="en-CA" sz="1600" b="1" err="1">
                <a:solidFill>
                  <a:srgbClr val="FF0000"/>
                </a:solidFill>
              </a:rPr>
              <a:t>chainedFunction</a:t>
            </a:r>
            <a:endParaRPr lang="en-CA" sz="1600" b="1">
              <a:solidFill>
                <a:srgbClr val="FF0000"/>
              </a:solidFill>
            </a:endParaRPr>
          </a:p>
        </p:txBody>
      </p:sp>
      <p:sp>
        <p:nvSpPr>
          <p:cNvPr id="15" name="Arrow: Curved Right 14">
            <a:extLst>
              <a:ext uri="{FF2B5EF4-FFF2-40B4-BE49-F238E27FC236}">
                <a16:creationId xmlns:a16="http://schemas.microsoft.com/office/drawing/2014/main" id="{97D41AD8-092B-466B-8A50-6BB77F3467CF}"/>
              </a:ext>
            </a:extLst>
          </p:cNvPr>
          <p:cNvSpPr/>
          <p:nvPr/>
        </p:nvSpPr>
        <p:spPr>
          <a:xfrm>
            <a:off x="1959585" y="3006479"/>
            <a:ext cx="555713" cy="233083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7" name="TextBox 16">
            <a:extLst>
              <a:ext uri="{FF2B5EF4-FFF2-40B4-BE49-F238E27FC236}">
                <a16:creationId xmlns:a16="http://schemas.microsoft.com/office/drawing/2014/main" id="{87971162-956A-48AF-902A-F7B7A55D7875}"/>
              </a:ext>
            </a:extLst>
          </p:cNvPr>
          <p:cNvSpPr txBox="1"/>
          <p:nvPr/>
        </p:nvSpPr>
        <p:spPr>
          <a:xfrm>
            <a:off x="1015564" y="3832747"/>
            <a:ext cx="1523552" cy="584775"/>
          </a:xfrm>
          <a:prstGeom prst="rect">
            <a:avLst/>
          </a:prstGeom>
          <a:noFill/>
        </p:spPr>
        <p:txBody>
          <a:bodyPr wrap="square" rtlCol="0">
            <a:spAutoFit/>
          </a:bodyPr>
          <a:lstStyle/>
          <a:p>
            <a:r>
              <a:rPr lang="en-CA" sz="1600" b="1">
                <a:solidFill>
                  <a:srgbClr val="FF0000"/>
                </a:solidFill>
              </a:rPr>
              <a:t>Any reject or </a:t>
            </a:r>
          </a:p>
          <a:p>
            <a:r>
              <a:rPr lang="en-CA" sz="1600" b="1">
                <a:solidFill>
                  <a:srgbClr val="FF0000"/>
                </a:solidFill>
              </a:rPr>
              <a:t>error occurs</a:t>
            </a:r>
          </a:p>
        </p:txBody>
      </p:sp>
      <p:sp>
        <p:nvSpPr>
          <p:cNvPr id="16" name="Slide Number Placeholder 15">
            <a:extLst>
              <a:ext uri="{FF2B5EF4-FFF2-40B4-BE49-F238E27FC236}">
                <a16:creationId xmlns:a16="http://schemas.microsoft.com/office/drawing/2014/main" id="{AD106651-DCED-47B4-A598-FAFD4923F8D6}"/>
              </a:ext>
            </a:extLst>
          </p:cNvPr>
          <p:cNvSpPr>
            <a:spLocks noGrp="1"/>
          </p:cNvSpPr>
          <p:nvPr>
            <p:ph type="sldNum" sz="quarter" idx="12"/>
          </p:nvPr>
        </p:nvSpPr>
        <p:spPr/>
        <p:txBody>
          <a:bodyPr/>
          <a:lstStyle/>
          <a:p>
            <a:fld id="{6B7CECC9-8688-4C14-9F38-24140407CAFB}" type="slidenum">
              <a:rPr lang="en-CA" smtClean="0"/>
              <a:t>15</a:t>
            </a:fld>
            <a:endParaRPr lang="en-CA"/>
          </a:p>
        </p:txBody>
      </p:sp>
    </p:spTree>
    <p:extLst>
      <p:ext uri="{BB962C8B-B14F-4D97-AF65-F5344CB8AC3E}">
        <p14:creationId xmlns:p14="http://schemas.microsoft.com/office/powerpoint/2010/main" val="4208362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15E22-2E72-40EA-A12E-465F57AE2F7E}"/>
              </a:ext>
            </a:extLst>
          </p:cNvPr>
          <p:cNvSpPr>
            <a:spLocks noGrp="1"/>
          </p:cNvSpPr>
          <p:nvPr>
            <p:ph type="title"/>
          </p:nvPr>
        </p:nvSpPr>
        <p:spPr/>
        <p:txBody>
          <a:bodyPr/>
          <a:lstStyle/>
          <a:p>
            <a:r>
              <a:rPr lang="en-CA"/>
              <a:t>Chained Promise – Scenario 2</a:t>
            </a:r>
          </a:p>
        </p:txBody>
      </p:sp>
      <p:sp>
        <p:nvSpPr>
          <p:cNvPr id="3" name="Content Placeholder 2">
            <a:extLst>
              <a:ext uri="{FF2B5EF4-FFF2-40B4-BE49-F238E27FC236}">
                <a16:creationId xmlns:a16="http://schemas.microsoft.com/office/drawing/2014/main" id="{03B40003-53EC-4AFE-961B-1D17A76BF435}"/>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AC4039C4-2CBA-4E45-B691-8CA5F4C246BA}"/>
              </a:ext>
            </a:extLst>
          </p:cNvPr>
          <p:cNvSpPr txBox="1">
            <a:spLocks noChangeArrowheads="1"/>
          </p:cNvSpPr>
          <p:nvPr/>
        </p:nvSpPr>
        <p:spPr bwMode="auto">
          <a:xfrm>
            <a:off x="2495147" y="2240950"/>
            <a:ext cx="8214960" cy="353943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console.log(`Scenario 2 output`);</a:t>
            </a:r>
          </a:p>
          <a:p>
            <a:pPr lvl="0" eaLnBrk="0" fontAlgn="base" hangingPunct="0">
              <a:spcBef>
                <a:spcPct val="0"/>
              </a:spcBef>
              <a:spcAft>
                <a:spcPct val="0"/>
              </a:spcAft>
              <a:buClrTx/>
              <a:buSzTx/>
              <a:buNone/>
              <a:defRPr/>
            </a:pPr>
            <a:endParaRPr kumimoji="1" lang="en-US" altLang="en-US" sz="16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6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6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err="1">
                <a:solidFill>
                  <a:srgbClr val="000000"/>
                </a:solidFill>
                <a:latin typeface="Courier New" panose="02070309020205020404" pitchFamily="49" charset="0"/>
              </a:rPr>
              <a:t>chainedPromise</a:t>
            </a:r>
            <a:r>
              <a:rPr kumimoji="1" lang="en-US" altLang="en-US" sz="1600" b="1" kern="0">
                <a:solidFill>
                  <a:srgbClr val="000000"/>
                </a:solidFill>
                <a:latin typeface="Courier New" panose="02070309020205020404" pitchFamily="49" charset="0"/>
              </a:rPr>
              <a:t>(2).then(() =&gt; {</a:t>
            </a:r>
          </a:p>
          <a:p>
            <a:pPr lvl="2"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console.log("first then");</a:t>
            </a:r>
          </a:p>
          <a:p>
            <a:pPr lvl="0"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	</a:t>
            </a:r>
          </a:p>
          <a:p>
            <a:pPr lvl="2"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return </a:t>
            </a:r>
            <a:r>
              <a:rPr kumimoji="1" lang="en-US" altLang="en-US" sz="1600" b="1" kern="0" err="1">
                <a:solidFill>
                  <a:srgbClr val="000000"/>
                </a:solidFill>
                <a:latin typeface="Courier New" panose="02070309020205020404" pitchFamily="49" charset="0"/>
              </a:rPr>
              <a:t>chainedPromise</a:t>
            </a:r>
            <a:r>
              <a:rPr kumimoji="1" lang="en-US" altLang="en-US" sz="1600" b="1" kern="0">
                <a:solidFill>
                  <a:srgbClr val="000000"/>
                </a:solidFill>
                <a:latin typeface="Courier New" panose="02070309020205020404" pitchFamily="49" charset="0"/>
              </a:rPr>
              <a:t>(8)}).</a:t>
            </a:r>
          </a:p>
          <a:p>
            <a:pPr lvl="0"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    then(() =&gt; {</a:t>
            </a:r>
          </a:p>
          <a:p>
            <a:pPr lvl="2"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console.log("second then"); </a:t>
            </a:r>
          </a:p>
          <a:p>
            <a:pPr lvl="2"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return </a:t>
            </a:r>
            <a:r>
              <a:rPr kumimoji="1" lang="en-US" altLang="en-US" sz="1600" b="1" kern="0" err="1">
                <a:solidFill>
                  <a:srgbClr val="000000"/>
                </a:solidFill>
                <a:latin typeface="Courier New" panose="02070309020205020404" pitchFamily="49" charset="0"/>
              </a:rPr>
              <a:t>chainedPromise</a:t>
            </a:r>
            <a:r>
              <a:rPr kumimoji="1" lang="en-US" altLang="en-US" sz="1600" b="1" kern="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    }).</a:t>
            </a:r>
          </a:p>
          <a:p>
            <a:pPr lvl="1" eaLnBrk="0" fontAlgn="base" hangingPunct="0">
              <a:spcBef>
                <a:spcPct val="0"/>
              </a:spcBef>
              <a:spcAft>
                <a:spcPct val="0"/>
              </a:spcAft>
              <a:buClrTx/>
              <a:buSzTx/>
              <a:buNone/>
              <a:defRPr/>
            </a:pPr>
            <a:r>
              <a:rPr kumimoji="1" lang="en-US" altLang="en-US" sz="1600" b="1" kern="0">
                <a:solidFill>
                  <a:srgbClr val="000000"/>
                </a:solidFill>
                <a:latin typeface="Courier New" panose="02070309020205020404" pitchFamily="49" charset="0"/>
              </a:rPr>
              <a:t>catch( error =&gt; console.log(error));</a:t>
            </a:r>
            <a:endParaRPr kumimoji="1" lang="en-US" altLang="en-US" sz="16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55BD3A5A-2078-407E-A87B-6F22AD178B64}"/>
              </a:ext>
            </a:extLst>
          </p:cNvPr>
          <p:cNvSpPr/>
          <p:nvPr/>
        </p:nvSpPr>
        <p:spPr>
          <a:xfrm rot="16200000">
            <a:off x="2712986" y="2895098"/>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4A04E29B-8FDC-45F4-B702-270A18B03498}"/>
              </a:ext>
            </a:extLst>
          </p:cNvPr>
          <p:cNvSpPr txBox="1"/>
          <p:nvPr/>
        </p:nvSpPr>
        <p:spPr>
          <a:xfrm>
            <a:off x="3092808" y="2670023"/>
            <a:ext cx="1882641" cy="523220"/>
          </a:xfrm>
          <a:prstGeom prst="rect">
            <a:avLst/>
          </a:prstGeom>
          <a:noFill/>
        </p:spPr>
        <p:txBody>
          <a:bodyPr wrap="square" rtlCol="0">
            <a:spAutoFit/>
          </a:bodyPr>
          <a:lstStyle/>
          <a:p>
            <a:r>
              <a:rPr lang="en-CA" sz="1400" b="1">
                <a:solidFill>
                  <a:srgbClr val="FF0000"/>
                </a:solidFill>
              </a:rPr>
              <a:t>Invoke a function that returns a Promise</a:t>
            </a:r>
          </a:p>
        </p:txBody>
      </p:sp>
      <p:sp>
        <p:nvSpPr>
          <p:cNvPr id="7" name="Arrow: Left 6">
            <a:extLst>
              <a:ext uri="{FF2B5EF4-FFF2-40B4-BE49-F238E27FC236}">
                <a16:creationId xmlns:a16="http://schemas.microsoft.com/office/drawing/2014/main" id="{852F0D76-3C89-4CA3-8AD0-E4C7A3233A28}"/>
              </a:ext>
            </a:extLst>
          </p:cNvPr>
          <p:cNvSpPr/>
          <p:nvPr/>
        </p:nvSpPr>
        <p:spPr>
          <a:xfrm rot="16200000">
            <a:off x="4873484" y="2853792"/>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061541B-49DD-40BF-B6C1-BD9F535E35CF}"/>
              </a:ext>
            </a:extLst>
          </p:cNvPr>
          <p:cNvSpPr txBox="1"/>
          <p:nvPr/>
        </p:nvSpPr>
        <p:spPr>
          <a:xfrm>
            <a:off x="5165684" y="2802729"/>
            <a:ext cx="2081281" cy="307777"/>
          </a:xfrm>
          <a:prstGeom prst="rect">
            <a:avLst/>
          </a:prstGeom>
          <a:noFill/>
        </p:spPr>
        <p:txBody>
          <a:bodyPr wrap="square" rtlCol="0">
            <a:spAutoFit/>
          </a:bodyPr>
          <a:lstStyle/>
          <a:p>
            <a:r>
              <a:rPr lang="en-CA" sz="1400" b="1">
                <a:solidFill>
                  <a:srgbClr val="FF0000"/>
                </a:solidFill>
              </a:rPr>
              <a:t>Promise handler</a:t>
            </a:r>
          </a:p>
        </p:txBody>
      </p:sp>
      <p:sp>
        <p:nvSpPr>
          <p:cNvPr id="9" name="Arrow: Left 8">
            <a:extLst>
              <a:ext uri="{FF2B5EF4-FFF2-40B4-BE49-F238E27FC236}">
                <a16:creationId xmlns:a16="http://schemas.microsoft.com/office/drawing/2014/main" id="{A796191E-AE5B-4CED-ADDF-F4A0A7D638DE}"/>
              </a:ext>
            </a:extLst>
          </p:cNvPr>
          <p:cNvSpPr/>
          <p:nvPr/>
        </p:nvSpPr>
        <p:spPr>
          <a:xfrm rot="16200000">
            <a:off x="3686095" y="3888399"/>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D0DDE70C-BC15-49C1-B10A-AEA4E0D87B6E}"/>
              </a:ext>
            </a:extLst>
          </p:cNvPr>
          <p:cNvSpPr txBox="1"/>
          <p:nvPr/>
        </p:nvSpPr>
        <p:spPr>
          <a:xfrm>
            <a:off x="3985341" y="3817881"/>
            <a:ext cx="6724766" cy="307777"/>
          </a:xfrm>
          <a:prstGeom prst="rect">
            <a:avLst/>
          </a:prstGeom>
          <a:noFill/>
        </p:spPr>
        <p:txBody>
          <a:bodyPr wrap="square" rtlCol="0">
            <a:spAutoFit/>
          </a:bodyPr>
          <a:lstStyle/>
          <a:p>
            <a:r>
              <a:rPr lang="en-CA" sz="1400" b="1">
                <a:solidFill>
                  <a:srgbClr val="FF0000"/>
                </a:solidFill>
              </a:rPr>
              <a:t>When the function is resolved, the return keyword will   call </a:t>
            </a:r>
            <a:r>
              <a:rPr lang="en-CA" sz="1400" b="1" err="1">
                <a:solidFill>
                  <a:srgbClr val="FF0000"/>
                </a:solidFill>
              </a:rPr>
              <a:t>chainedPromise</a:t>
            </a:r>
            <a:r>
              <a:rPr lang="en-CA" sz="1400" b="1">
                <a:solidFill>
                  <a:srgbClr val="FF0000"/>
                </a:solidFill>
              </a:rPr>
              <a:t> function</a:t>
            </a:r>
          </a:p>
        </p:txBody>
      </p:sp>
      <p:sp>
        <p:nvSpPr>
          <p:cNvPr id="15" name="Arrow: Curved Right 14">
            <a:extLst>
              <a:ext uri="{FF2B5EF4-FFF2-40B4-BE49-F238E27FC236}">
                <a16:creationId xmlns:a16="http://schemas.microsoft.com/office/drawing/2014/main" id="{97D41AD8-092B-466B-8A50-6BB77F3467CF}"/>
              </a:ext>
            </a:extLst>
          </p:cNvPr>
          <p:cNvSpPr/>
          <p:nvPr/>
        </p:nvSpPr>
        <p:spPr>
          <a:xfrm flipH="1">
            <a:off x="7423688" y="4260595"/>
            <a:ext cx="867906" cy="143007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7" name="TextBox 16">
            <a:extLst>
              <a:ext uri="{FF2B5EF4-FFF2-40B4-BE49-F238E27FC236}">
                <a16:creationId xmlns:a16="http://schemas.microsoft.com/office/drawing/2014/main" id="{87971162-956A-48AF-902A-F7B7A55D7875}"/>
              </a:ext>
            </a:extLst>
          </p:cNvPr>
          <p:cNvSpPr txBox="1"/>
          <p:nvPr/>
        </p:nvSpPr>
        <p:spPr>
          <a:xfrm>
            <a:off x="8424989" y="4437659"/>
            <a:ext cx="1523552" cy="584775"/>
          </a:xfrm>
          <a:prstGeom prst="rect">
            <a:avLst/>
          </a:prstGeom>
          <a:noFill/>
        </p:spPr>
        <p:txBody>
          <a:bodyPr wrap="square" rtlCol="0">
            <a:spAutoFit/>
          </a:bodyPr>
          <a:lstStyle/>
          <a:p>
            <a:r>
              <a:rPr lang="en-CA" sz="1600" b="1">
                <a:solidFill>
                  <a:srgbClr val="FF0000"/>
                </a:solidFill>
              </a:rPr>
              <a:t>Any reject or </a:t>
            </a:r>
          </a:p>
          <a:p>
            <a:r>
              <a:rPr lang="en-CA" sz="1600" b="1">
                <a:solidFill>
                  <a:srgbClr val="FF0000"/>
                </a:solidFill>
              </a:rPr>
              <a:t>error occurs</a:t>
            </a:r>
          </a:p>
        </p:txBody>
      </p:sp>
      <p:sp>
        <p:nvSpPr>
          <p:cNvPr id="16" name="Oval 15">
            <a:extLst>
              <a:ext uri="{FF2B5EF4-FFF2-40B4-BE49-F238E27FC236}">
                <a16:creationId xmlns:a16="http://schemas.microsoft.com/office/drawing/2014/main" id="{66FD9598-9053-4CE1-84D2-E3A938ADFA58}"/>
              </a:ext>
            </a:extLst>
          </p:cNvPr>
          <p:cNvSpPr/>
          <p:nvPr/>
        </p:nvSpPr>
        <p:spPr>
          <a:xfrm>
            <a:off x="2216258" y="4417017"/>
            <a:ext cx="5030707" cy="960895"/>
          </a:xfrm>
          <a:prstGeom prst="ellipse">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2451234B-BE5B-434D-B768-5F912438F284}"/>
              </a:ext>
            </a:extLst>
          </p:cNvPr>
          <p:cNvSpPr txBox="1"/>
          <p:nvPr/>
        </p:nvSpPr>
        <p:spPr>
          <a:xfrm>
            <a:off x="1387785" y="4637080"/>
            <a:ext cx="1523552" cy="338554"/>
          </a:xfrm>
          <a:prstGeom prst="rect">
            <a:avLst/>
          </a:prstGeom>
          <a:noFill/>
        </p:spPr>
        <p:txBody>
          <a:bodyPr wrap="square" rtlCol="0">
            <a:spAutoFit/>
          </a:bodyPr>
          <a:lstStyle/>
          <a:p>
            <a:r>
              <a:rPr lang="en-CA" sz="1600" b="1">
                <a:solidFill>
                  <a:srgbClr val="FF0000"/>
                </a:solidFill>
              </a:rPr>
              <a:t>Bypass</a:t>
            </a:r>
          </a:p>
        </p:txBody>
      </p:sp>
      <p:sp>
        <p:nvSpPr>
          <p:cNvPr id="11" name="Slide Number Placeholder 10">
            <a:extLst>
              <a:ext uri="{FF2B5EF4-FFF2-40B4-BE49-F238E27FC236}">
                <a16:creationId xmlns:a16="http://schemas.microsoft.com/office/drawing/2014/main" id="{4E1D9942-4F2F-426B-8AB3-BC8936780A06}"/>
              </a:ext>
            </a:extLst>
          </p:cNvPr>
          <p:cNvSpPr>
            <a:spLocks noGrp="1"/>
          </p:cNvSpPr>
          <p:nvPr>
            <p:ph type="sldNum" sz="quarter" idx="12"/>
          </p:nvPr>
        </p:nvSpPr>
        <p:spPr/>
        <p:txBody>
          <a:bodyPr/>
          <a:lstStyle/>
          <a:p>
            <a:fld id="{6B7CECC9-8688-4C14-9F38-24140407CAFB}" type="slidenum">
              <a:rPr lang="en-CA" smtClean="0"/>
              <a:t>16</a:t>
            </a:fld>
            <a:endParaRPr lang="en-CA"/>
          </a:p>
        </p:txBody>
      </p:sp>
    </p:spTree>
    <p:extLst>
      <p:ext uri="{BB962C8B-B14F-4D97-AF65-F5344CB8AC3E}">
        <p14:creationId xmlns:p14="http://schemas.microsoft.com/office/powerpoint/2010/main" val="2529677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4502-F8BA-4BB1-B574-7E3FC8D12069}"/>
              </a:ext>
            </a:extLst>
          </p:cNvPr>
          <p:cNvSpPr>
            <a:spLocks noGrp="1"/>
          </p:cNvSpPr>
          <p:nvPr>
            <p:ph type="title"/>
          </p:nvPr>
        </p:nvSpPr>
        <p:spPr/>
        <p:txBody>
          <a:bodyPr/>
          <a:lstStyle/>
          <a:p>
            <a:r>
              <a:rPr lang="en-CA" dirty="0"/>
              <a:t>Async Function in JavaScript</a:t>
            </a:r>
          </a:p>
        </p:txBody>
      </p:sp>
      <p:sp>
        <p:nvSpPr>
          <p:cNvPr id="3" name="Content Placeholder 2">
            <a:extLst>
              <a:ext uri="{FF2B5EF4-FFF2-40B4-BE49-F238E27FC236}">
                <a16:creationId xmlns:a16="http://schemas.microsoft.com/office/drawing/2014/main" id="{1E3772A9-0A44-4606-8D8E-C7724B2AC587}"/>
              </a:ext>
            </a:extLst>
          </p:cNvPr>
          <p:cNvSpPr>
            <a:spLocks noGrp="1"/>
          </p:cNvSpPr>
          <p:nvPr>
            <p:ph idx="1"/>
          </p:nvPr>
        </p:nvSpPr>
        <p:spPr/>
        <p:txBody>
          <a:bodyPr>
            <a:normAutofit lnSpcReduction="10000"/>
          </a:bodyPr>
          <a:lstStyle/>
          <a:p>
            <a:r>
              <a:rPr lang="en-US" dirty="0"/>
              <a:t>It enables asynchronous, promised-based behavior written in cleaner style, avoiding the need to explicitly configure promise chain</a:t>
            </a:r>
          </a:p>
          <a:p>
            <a:pPr lvl="1"/>
            <a:r>
              <a:rPr lang="en-US" dirty="0"/>
              <a:t>A functions declared with async keyword</a:t>
            </a:r>
          </a:p>
          <a:p>
            <a:pPr lvl="1"/>
            <a:r>
              <a:rPr lang="en-US" dirty="0"/>
              <a:t>The await keyword is permitted within them</a:t>
            </a:r>
          </a:p>
          <a:p>
            <a:r>
              <a:rPr lang="en-US" dirty="0"/>
              <a:t>The return values are guaranteed to be converted into promises</a:t>
            </a:r>
          </a:p>
          <a:p>
            <a:r>
              <a:rPr lang="en-US" dirty="0"/>
              <a:t>Coroutine that allows to work with Promises by using JavaScript language syntax and allow to implement nonlinear control flow in JavaScript</a:t>
            </a:r>
          </a:p>
          <a:p>
            <a:pPr lvl="1"/>
            <a:r>
              <a:rPr lang="en-US" dirty="0"/>
              <a:t>Currently async control flow in JavaScript can be expressed with several features: event, callback, streams, promises and with async generator</a:t>
            </a:r>
          </a:p>
          <a:p>
            <a:pPr lvl="1"/>
            <a:endParaRPr lang="en-US" dirty="0"/>
          </a:p>
        </p:txBody>
      </p:sp>
      <p:sp>
        <p:nvSpPr>
          <p:cNvPr id="4" name="Slide Number Placeholder 3">
            <a:extLst>
              <a:ext uri="{FF2B5EF4-FFF2-40B4-BE49-F238E27FC236}">
                <a16:creationId xmlns:a16="http://schemas.microsoft.com/office/drawing/2014/main" id="{55C1E860-6C58-4163-9318-49040871E0E8}"/>
              </a:ext>
            </a:extLst>
          </p:cNvPr>
          <p:cNvSpPr>
            <a:spLocks noGrp="1"/>
          </p:cNvSpPr>
          <p:nvPr>
            <p:ph type="sldNum" sz="quarter" idx="12"/>
          </p:nvPr>
        </p:nvSpPr>
        <p:spPr/>
        <p:txBody>
          <a:bodyPr/>
          <a:lstStyle/>
          <a:p>
            <a:fld id="{6B7CECC9-8688-4C14-9F38-24140407CAFB}" type="slidenum">
              <a:rPr lang="en-CA" smtClean="0"/>
              <a:t>17</a:t>
            </a:fld>
            <a:endParaRPr lang="en-CA"/>
          </a:p>
        </p:txBody>
      </p:sp>
    </p:spTree>
    <p:extLst>
      <p:ext uri="{BB962C8B-B14F-4D97-AF65-F5344CB8AC3E}">
        <p14:creationId xmlns:p14="http://schemas.microsoft.com/office/powerpoint/2010/main" val="3248157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6E9A9-35E2-4B0E-BD38-4FC577BD94FF}"/>
              </a:ext>
            </a:extLst>
          </p:cNvPr>
          <p:cNvSpPr>
            <a:spLocks noGrp="1"/>
          </p:cNvSpPr>
          <p:nvPr>
            <p:ph type="title"/>
          </p:nvPr>
        </p:nvSpPr>
        <p:spPr/>
        <p:txBody>
          <a:bodyPr/>
          <a:lstStyle/>
          <a:p>
            <a:r>
              <a:rPr lang="en-CA"/>
              <a:t>Async Function in JavaScript</a:t>
            </a:r>
          </a:p>
        </p:txBody>
      </p:sp>
      <p:sp>
        <p:nvSpPr>
          <p:cNvPr id="3" name="Content Placeholder 2">
            <a:extLst>
              <a:ext uri="{FF2B5EF4-FFF2-40B4-BE49-F238E27FC236}">
                <a16:creationId xmlns:a16="http://schemas.microsoft.com/office/drawing/2014/main" id="{A02CB8D4-3C30-4A80-B9E3-506E07A72E92}"/>
              </a:ext>
            </a:extLst>
          </p:cNvPr>
          <p:cNvSpPr>
            <a:spLocks noGrp="1"/>
          </p:cNvSpPr>
          <p:nvPr>
            <p:ph idx="1"/>
          </p:nvPr>
        </p:nvSpPr>
        <p:spPr/>
        <p:txBody>
          <a:bodyPr>
            <a:normAutofit lnSpcReduction="10000"/>
          </a:bodyPr>
          <a:lstStyle/>
          <a:p>
            <a:pPr lvl="1"/>
            <a:r>
              <a:rPr lang="en-CA"/>
              <a:t>Syntax</a:t>
            </a:r>
          </a:p>
          <a:p>
            <a:pPr lvl="1"/>
            <a:endParaRPr lang="en-CA"/>
          </a:p>
          <a:p>
            <a:pPr lvl="1"/>
            <a:endParaRPr lang="en-CA"/>
          </a:p>
          <a:p>
            <a:pPr lvl="1"/>
            <a:endParaRPr lang="en-CA"/>
          </a:p>
          <a:p>
            <a:pPr lvl="2"/>
            <a:endParaRPr lang="en-US"/>
          </a:p>
          <a:p>
            <a:pPr lvl="2"/>
            <a:endParaRPr lang="en-US"/>
          </a:p>
          <a:p>
            <a:pPr lvl="2"/>
            <a:endParaRPr lang="en-US"/>
          </a:p>
          <a:p>
            <a:pPr lvl="2"/>
            <a:endParaRPr lang="en-US"/>
          </a:p>
          <a:p>
            <a:pPr lvl="2"/>
            <a:endParaRPr lang="en-US"/>
          </a:p>
          <a:p>
            <a:pPr lvl="2"/>
            <a:endParaRPr lang="en-US"/>
          </a:p>
          <a:p>
            <a:pPr lvl="2"/>
            <a:r>
              <a:rPr lang="en-US"/>
              <a:t>Any async function declaration should start with async keyword</a:t>
            </a:r>
          </a:p>
          <a:p>
            <a:pPr lvl="2"/>
            <a:r>
              <a:rPr lang="en-US"/>
              <a:t>The await operator is used to resolve the value of the function call returning a promise</a:t>
            </a:r>
          </a:p>
          <a:p>
            <a:pPr lvl="1"/>
            <a:endParaRPr lang="en-CA"/>
          </a:p>
        </p:txBody>
      </p:sp>
      <p:sp>
        <p:nvSpPr>
          <p:cNvPr id="4" name="Text Box 1033">
            <a:extLst>
              <a:ext uri="{FF2B5EF4-FFF2-40B4-BE49-F238E27FC236}">
                <a16:creationId xmlns:a16="http://schemas.microsoft.com/office/drawing/2014/main" id="{7504E482-DA13-49BE-B11E-0069A3888576}"/>
              </a:ext>
            </a:extLst>
          </p:cNvPr>
          <p:cNvSpPr txBox="1">
            <a:spLocks noChangeArrowheads="1"/>
          </p:cNvSpPr>
          <p:nvPr/>
        </p:nvSpPr>
        <p:spPr bwMode="auto">
          <a:xfrm>
            <a:off x="2671929" y="2274838"/>
            <a:ext cx="7139045" cy="286232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FF0000"/>
                </a:solidFill>
                <a:latin typeface="Courier New" panose="02070309020205020404" pitchFamily="49" charset="0"/>
              </a:rPr>
              <a:t>async</a:t>
            </a:r>
            <a:r>
              <a:rPr kumimoji="1" lang="en-US" altLang="en-US" sz="1800" b="1" kern="0" dirty="0">
                <a:solidFill>
                  <a:srgbClr val="000000"/>
                </a:solidFill>
                <a:latin typeface="Courier New" panose="02070309020205020404" pitchFamily="49" charset="0"/>
              </a:rPr>
              <a:t> function n</a:t>
            </a:r>
            <a:r>
              <a:rPr kumimoji="1" lang="en-US" altLang="en-US" sz="1800" b="1" i="0" u="none" strike="noStrike" kern="0" cap="none" spc="0" normalizeH="0" baseline="0" noProof="0" dirty="0" err="1">
                <a:ln>
                  <a:noFill/>
                </a:ln>
                <a:solidFill>
                  <a:srgbClr val="000000"/>
                </a:solidFill>
                <a:effectLst/>
                <a:uLnTx/>
                <a:uFillTx/>
                <a:latin typeface="Courier New" panose="02070309020205020404" pitchFamily="49" charset="0"/>
              </a:rPr>
              <a:t>ameOfFunction</a:t>
            </a:r>
            <a:r>
              <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rPr>
              <a:t>(param list)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000000"/>
                </a:solidFill>
                <a:latin typeface="Courier New" panose="02070309020205020404" pitchFamily="49" charset="0"/>
              </a:rPr>
              <a:t>	try {</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rPr>
              <a:t>		. . .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000000"/>
                </a:solidFill>
                <a:latin typeface="Courier New" panose="02070309020205020404" pitchFamily="49" charset="0"/>
              </a:rPr>
              <a:t>		let result = </a:t>
            </a:r>
            <a:r>
              <a:rPr kumimoji="1" lang="en-US" altLang="en-US" sz="1800" b="1" kern="0" dirty="0">
                <a:solidFill>
                  <a:srgbClr val="FF0000"/>
                </a:solidFill>
                <a:latin typeface="Courier New" panose="02070309020205020404" pitchFamily="49" charset="0"/>
              </a:rPr>
              <a:t>await</a:t>
            </a:r>
            <a:r>
              <a:rPr kumimoji="1" lang="en-US" altLang="en-US" sz="1800" b="1" kern="0" dirty="0">
                <a:solidFill>
                  <a:srgbClr val="000000"/>
                </a:solidFill>
                <a:latin typeface="Courier New" panose="02070309020205020404" pitchFamily="49" charset="0"/>
              </a:rPr>
              <a:t> </a:t>
            </a:r>
            <a:r>
              <a:rPr kumimoji="1" lang="en-US" altLang="en-US" sz="1800" b="1" kern="0" dirty="0" err="1">
                <a:solidFill>
                  <a:srgbClr val="000000"/>
                </a:solidFill>
                <a:latin typeface="Courier New" panose="02070309020205020404" pitchFamily="49" charset="0"/>
              </a:rPr>
              <a:t>functionCall</a:t>
            </a:r>
            <a:r>
              <a:rPr kumimoji="1" lang="en-US" altLang="en-US" sz="1800" b="1" kern="0" dirty="0">
                <a:solidFill>
                  <a:srgbClr val="000000"/>
                </a:solidFill>
                <a:latin typeface="Courier New" panose="02070309020205020404" pitchFamily="49"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rPr>
              <a:t>	} catch(error) {</a:t>
            </a:r>
          </a:p>
          <a:p>
            <a:pPr marL="0" marR="0" lvl="0" indent="0" defTabSz="914400" eaLnBrk="0" fontAlgn="base" latinLnBrk="0" hangingPunct="0">
              <a:lnSpc>
                <a:spcPct val="100000"/>
              </a:lnSpc>
              <a:spcBef>
                <a:spcPct val="0"/>
              </a:spcBef>
              <a:spcAft>
                <a:spcPct val="0"/>
              </a:spcAft>
              <a:buClrTx/>
              <a:buSzTx/>
              <a:buFontTx/>
              <a:buNone/>
              <a:tabLst/>
              <a:defRPr/>
            </a:pPr>
            <a:endParaRPr kumimoji="1" lang="en-US" altLang="en-US" sz="1800" b="1" kern="0" dirty="0">
              <a:solidFill>
                <a:srgbClr val="000000"/>
              </a:solidFill>
              <a:latin typeface="Courier New" panose="02070309020205020404" pitchFamily="49"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rPr>
              <a:t>	} finally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000000"/>
                </a:solidFill>
                <a:latin typeface="Courier New" panose="02070309020205020404" pitchFamily="49" charset="0"/>
              </a:rPr>
              <a:t>		// housekeeping. . .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000000"/>
                </a:solidFill>
                <a:latin typeface="Courier New" panose="02070309020205020404" pitchFamily="49" charset="0"/>
              </a:rPr>
              <a:t>	}</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rPr>
              <a:t>}</a:t>
            </a:r>
          </a:p>
        </p:txBody>
      </p:sp>
      <p:sp>
        <p:nvSpPr>
          <p:cNvPr id="5" name="Slide Number Placeholder 4">
            <a:extLst>
              <a:ext uri="{FF2B5EF4-FFF2-40B4-BE49-F238E27FC236}">
                <a16:creationId xmlns:a16="http://schemas.microsoft.com/office/drawing/2014/main" id="{7A28D246-8DA0-4B97-8560-EB2B49DBB9C3}"/>
              </a:ext>
            </a:extLst>
          </p:cNvPr>
          <p:cNvSpPr>
            <a:spLocks noGrp="1"/>
          </p:cNvSpPr>
          <p:nvPr>
            <p:ph type="sldNum" sz="quarter" idx="12"/>
          </p:nvPr>
        </p:nvSpPr>
        <p:spPr/>
        <p:txBody>
          <a:bodyPr/>
          <a:lstStyle/>
          <a:p>
            <a:fld id="{6B7CECC9-8688-4C14-9F38-24140407CAFB}" type="slidenum">
              <a:rPr lang="en-CA" smtClean="0"/>
              <a:t>18</a:t>
            </a:fld>
            <a:endParaRPr lang="en-CA"/>
          </a:p>
        </p:txBody>
      </p:sp>
    </p:spTree>
    <p:extLst>
      <p:ext uri="{BB962C8B-B14F-4D97-AF65-F5344CB8AC3E}">
        <p14:creationId xmlns:p14="http://schemas.microsoft.com/office/powerpoint/2010/main" val="1722435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CBB4D-396B-4CF4-B422-F7978E96D8DF}"/>
              </a:ext>
            </a:extLst>
          </p:cNvPr>
          <p:cNvSpPr>
            <a:spLocks noGrp="1"/>
          </p:cNvSpPr>
          <p:nvPr>
            <p:ph type="title"/>
          </p:nvPr>
        </p:nvSpPr>
        <p:spPr/>
        <p:txBody>
          <a:bodyPr/>
          <a:lstStyle/>
          <a:p>
            <a:r>
              <a:rPr lang="en-CA" dirty="0"/>
              <a:t>Async Function in JS – An Example</a:t>
            </a:r>
          </a:p>
        </p:txBody>
      </p:sp>
      <p:sp>
        <p:nvSpPr>
          <p:cNvPr id="3" name="Content Placeholder 2">
            <a:extLst>
              <a:ext uri="{FF2B5EF4-FFF2-40B4-BE49-F238E27FC236}">
                <a16:creationId xmlns:a16="http://schemas.microsoft.com/office/drawing/2014/main" id="{FDCE72CD-550A-4E3A-97F3-13177055962F}"/>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DC1A0A32-D260-426D-BAE4-312ABA9842C0}"/>
              </a:ext>
            </a:extLst>
          </p:cNvPr>
          <p:cNvSpPr txBox="1">
            <a:spLocks noChangeArrowheads="1"/>
          </p:cNvSpPr>
          <p:nvPr/>
        </p:nvSpPr>
        <p:spPr bwMode="auto">
          <a:xfrm>
            <a:off x="2892033" y="1837313"/>
            <a:ext cx="7977809" cy="433965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dirty="0">
                <a:solidFill>
                  <a:srgbClr val="FF0000"/>
                </a:solidFill>
                <a:latin typeface="Courier New" panose="02070309020205020404" pitchFamily="49" charset="0"/>
              </a:rPr>
              <a:t>async</a:t>
            </a:r>
            <a:r>
              <a:rPr kumimoji="1" lang="en-US" altLang="en-US" sz="1600" b="1" kern="0" dirty="0">
                <a:solidFill>
                  <a:srgbClr val="000000"/>
                </a:solidFill>
                <a:latin typeface="Courier New" panose="02070309020205020404" pitchFamily="49" charset="0"/>
              </a:rPr>
              <a:t> function </a:t>
            </a:r>
            <a:r>
              <a:rPr kumimoji="1" lang="en-US" altLang="en-US" sz="1600" b="1" kern="0" dirty="0" err="1">
                <a:solidFill>
                  <a:srgbClr val="000000"/>
                </a:solidFill>
                <a:latin typeface="Courier New" panose="02070309020205020404" pitchFamily="49" charset="0"/>
              </a:rPr>
              <a:t>handlePromise</a:t>
            </a:r>
            <a:r>
              <a:rPr kumimoji="1" lang="en-US" altLang="en-US" sz="16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try {</a:t>
            </a:r>
          </a:p>
          <a:p>
            <a:pPr lvl="0" eaLnBrk="0" fontAlgn="base" hangingPunct="0">
              <a:spcBef>
                <a:spcPct val="0"/>
              </a:spcBef>
              <a:spcAft>
                <a:spcPct val="0"/>
              </a:spcAft>
              <a:buClrTx/>
              <a:buSzTx/>
              <a:buNone/>
              <a:defRPr/>
            </a:pPr>
            <a:endParaRPr kumimoji="1" lang="en-US" altLang="en-US" sz="16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let result = </a:t>
            </a:r>
            <a:r>
              <a:rPr kumimoji="1" lang="en-US" altLang="en-US" sz="1600" b="1" kern="0" dirty="0">
                <a:solidFill>
                  <a:srgbClr val="FF0000"/>
                </a:solidFill>
                <a:latin typeface="Courier New" panose="02070309020205020404" pitchFamily="49" charset="0"/>
              </a:rPr>
              <a:t>await</a:t>
            </a:r>
            <a:r>
              <a:rPr kumimoji="1" lang="en-US" altLang="en-US" sz="1600" b="1" kern="0" dirty="0">
                <a:solidFill>
                  <a:srgbClr val="000000"/>
                </a:solidFill>
                <a:latin typeface="Courier New" panose="02070309020205020404" pitchFamily="49" charset="0"/>
              </a:rPr>
              <a:t> </a:t>
            </a:r>
            <a:r>
              <a:rPr kumimoji="1" lang="en-US" altLang="en-US" sz="1600" b="1" kern="0" dirty="0" err="1">
                <a:solidFill>
                  <a:srgbClr val="000000"/>
                </a:solidFill>
                <a:latin typeface="Courier New" panose="02070309020205020404" pitchFamily="49" charset="0"/>
              </a:rPr>
              <a:t>doSomething</a:t>
            </a:r>
            <a:r>
              <a:rPr kumimoji="1" lang="en-US" altLang="en-US" sz="16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console.log(result)</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 catch (error) {</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console.log(</a:t>
            </a:r>
            <a:r>
              <a:rPr kumimoji="1" lang="en-US" altLang="en-US" sz="1600" b="1" kern="0" dirty="0" err="1">
                <a:solidFill>
                  <a:srgbClr val="000000"/>
                </a:solidFill>
                <a:latin typeface="Courier New" panose="02070309020205020404" pitchFamily="49" charset="0"/>
              </a:rPr>
              <a:t>error.message</a:t>
            </a:r>
            <a:r>
              <a:rPr kumimoji="1" lang="en-US" altLang="en-US" sz="16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 finally {</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console.log(`Finally block is called’);</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 </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6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 invoke the function</a:t>
            </a:r>
          </a:p>
          <a:p>
            <a:pPr lvl="0" eaLnBrk="0" fontAlgn="base" hangingPunct="0">
              <a:spcBef>
                <a:spcPct val="0"/>
              </a:spcBef>
              <a:spcAft>
                <a:spcPct val="0"/>
              </a:spcAft>
              <a:buClrTx/>
              <a:buSzTx/>
              <a:buNone/>
              <a:defRPr/>
            </a:pPr>
            <a:r>
              <a:rPr kumimoji="1" lang="en-US" altLang="en-US" sz="1600" b="1" kern="0" dirty="0" err="1">
                <a:solidFill>
                  <a:srgbClr val="000000"/>
                </a:solidFill>
                <a:latin typeface="Courier New" panose="02070309020205020404" pitchFamily="49" charset="0"/>
              </a:rPr>
              <a:t>handlePromise</a:t>
            </a:r>
            <a:r>
              <a:rPr kumimoji="1" lang="en-US" altLang="en-US" sz="16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600" b="1" kern="0" dirty="0">
                <a:solidFill>
                  <a:srgbClr val="000000"/>
                </a:solidFill>
                <a:latin typeface="Courier New" panose="02070309020205020404" pitchFamily="49" charset="0"/>
              </a:rPr>
              <a:t>console.log('hello');</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3AE71E5C-1BEA-4574-80C0-380A616EF6D7}"/>
              </a:ext>
            </a:extLst>
          </p:cNvPr>
          <p:cNvSpPr/>
          <p:nvPr/>
        </p:nvSpPr>
        <p:spPr>
          <a:xfrm>
            <a:off x="8126471" y="3197276"/>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B9D77F35-5CA1-4806-B368-0076AE66473A}"/>
              </a:ext>
            </a:extLst>
          </p:cNvPr>
          <p:cNvSpPr txBox="1"/>
          <p:nvPr/>
        </p:nvSpPr>
        <p:spPr>
          <a:xfrm>
            <a:off x="8647226" y="3002977"/>
            <a:ext cx="2241631" cy="646331"/>
          </a:xfrm>
          <a:prstGeom prst="rect">
            <a:avLst/>
          </a:prstGeom>
          <a:noFill/>
        </p:spPr>
        <p:txBody>
          <a:bodyPr wrap="square" rtlCol="0">
            <a:spAutoFit/>
          </a:bodyPr>
          <a:lstStyle/>
          <a:p>
            <a:r>
              <a:rPr lang="en-CA" b="1">
                <a:solidFill>
                  <a:srgbClr val="FF0000"/>
                </a:solidFill>
              </a:rPr>
              <a:t>Function that returns a promise object</a:t>
            </a:r>
          </a:p>
        </p:txBody>
      </p:sp>
      <p:sp>
        <p:nvSpPr>
          <p:cNvPr id="7" name="Arrow: Left 6">
            <a:extLst>
              <a:ext uri="{FF2B5EF4-FFF2-40B4-BE49-F238E27FC236}">
                <a16:creationId xmlns:a16="http://schemas.microsoft.com/office/drawing/2014/main" id="{8CE7D8BC-6987-4FD3-9EE1-A4F605C24EF4}"/>
              </a:ext>
            </a:extLst>
          </p:cNvPr>
          <p:cNvSpPr/>
          <p:nvPr/>
        </p:nvSpPr>
        <p:spPr>
          <a:xfrm rot="16200000">
            <a:off x="5611918" y="2817066"/>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45D7C53-0C4D-411B-85C4-BCC8336BFA31}"/>
              </a:ext>
            </a:extLst>
          </p:cNvPr>
          <p:cNvSpPr txBox="1"/>
          <p:nvPr/>
        </p:nvSpPr>
        <p:spPr>
          <a:xfrm>
            <a:off x="6045190" y="2717907"/>
            <a:ext cx="2081281" cy="338554"/>
          </a:xfrm>
          <a:prstGeom prst="rect">
            <a:avLst/>
          </a:prstGeom>
          <a:noFill/>
        </p:spPr>
        <p:txBody>
          <a:bodyPr wrap="square" rtlCol="0">
            <a:spAutoFit/>
          </a:bodyPr>
          <a:lstStyle/>
          <a:p>
            <a:r>
              <a:rPr lang="en-CA" sz="1600" b="1">
                <a:solidFill>
                  <a:srgbClr val="FF0000"/>
                </a:solidFill>
              </a:rPr>
              <a:t>await operator</a:t>
            </a:r>
          </a:p>
        </p:txBody>
      </p:sp>
      <p:sp>
        <p:nvSpPr>
          <p:cNvPr id="9" name="Arrow: Left 8">
            <a:extLst>
              <a:ext uri="{FF2B5EF4-FFF2-40B4-BE49-F238E27FC236}">
                <a16:creationId xmlns:a16="http://schemas.microsoft.com/office/drawing/2014/main" id="{1EBF4B89-C66C-4F0B-BF8F-C17290E5C388}"/>
              </a:ext>
            </a:extLst>
          </p:cNvPr>
          <p:cNvSpPr/>
          <p:nvPr/>
        </p:nvSpPr>
        <p:spPr>
          <a:xfrm rot="16200000">
            <a:off x="3108224" y="2081176"/>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867F2DD1-448D-4361-87A8-F9E40A7232F7}"/>
              </a:ext>
            </a:extLst>
          </p:cNvPr>
          <p:cNvSpPr txBox="1"/>
          <p:nvPr/>
        </p:nvSpPr>
        <p:spPr>
          <a:xfrm>
            <a:off x="3490525" y="1979210"/>
            <a:ext cx="2081281" cy="338554"/>
          </a:xfrm>
          <a:prstGeom prst="rect">
            <a:avLst/>
          </a:prstGeom>
          <a:noFill/>
        </p:spPr>
        <p:txBody>
          <a:bodyPr wrap="square" rtlCol="0">
            <a:spAutoFit/>
          </a:bodyPr>
          <a:lstStyle/>
          <a:p>
            <a:r>
              <a:rPr lang="en-CA" sz="1600" b="1" dirty="0">
                <a:solidFill>
                  <a:srgbClr val="FF0000"/>
                </a:solidFill>
              </a:rPr>
              <a:t>async keyword </a:t>
            </a:r>
          </a:p>
        </p:txBody>
      </p:sp>
      <p:sp>
        <p:nvSpPr>
          <p:cNvPr id="11" name="Arrow: Left 10">
            <a:extLst>
              <a:ext uri="{FF2B5EF4-FFF2-40B4-BE49-F238E27FC236}">
                <a16:creationId xmlns:a16="http://schemas.microsoft.com/office/drawing/2014/main" id="{AD43B0BD-9830-4D56-A227-61BD8D998932}"/>
              </a:ext>
            </a:extLst>
          </p:cNvPr>
          <p:cNvSpPr/>
          <p:nvPr/>
        </p:nvSpPr>
        <p:spPr>
          <a:xfrm rot="10800000">
            <a:off x="2873019" y="2919031"/>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2AF5E63C-1EDC-4774-8F7B-790BC5BD2622}"/>
              </a:ext>
            </a:extLst>
          </p:cNvPr>
          <p:cNvSpPr txBox="1"/>
          <p:nvPr/>
        </p:nvSpPr>
        <p:spPr>
          <a:xfrm>
            <a:off x="761746" y="2842024"/>
            <a:ext cx="2241631" cy="923330"/>
          </a:xfrm>
          <a:prstGeom prst="rect">
            <a:avLst/>
          </a:prstGeom>
          <a:noFill/>
        </p:spPr>
        <p:txBody>
          <a:bodyPr wrap="square" rtlCol="0">
            <a:spAutoFit/>
          </a:bodyPr>
          <a:lstStyle/>
          <a:p>
            <a:r>
              <a:rPr lang="en-CA" b="1">
                <a:solidFill>
                  <a:srgbClr val="FF0000"/>
                </a:solidFill>
              </a:rPr>
              <a:t>await operator must be within try/catch block</a:t>
            </a:r>
          </a:p>
        </p:txBody>
      </p:sp>
      <p:sp>
        <p:nvSpPr>
          <p:cNvPr id="13" name="TextBox 12">
            <a:extLst>
              <a:ext uri="{FF2B5EF4-FFF2-40B4-BE49-F238E27FC236}">
                <a16:creationId xmlns:a16="http://schemas.microsoft.com/office/drawing/2014/main" id="{0B6F2F57-CE01-4533-81ED-DFD64AF2D28C}"/>
              </a:ext>
            </a:extLst>
          </p:cNvPr>
          <p:cNvSpPr txBox="1"/>
          <p:nvPr/>
        </p:nvSpPr>
        <p:spPr>
          <a:xfrm>
            <a:off x="6622770" y="5009271"/>
            <a:ext cx="2992701" cy="923330"/>
          </a:xfrm>
          <a:prstGeom prst="rect">
            <a:avLst/>
          </a:prstGeom>
          <a:noFill/>
        </p:spPr>
        <p:txBody>
          <a:bodyPr wrap="square" rtlCol="0">
            <a:spAutoFit/>
          </a:bodyPr>
          <a:lstStyle/>
          <a:p>
            <a:r>
              <a:rPr lang="en-CA" b="1" dirty="0">
                <a:solidFill>
                  <a:srgbClr val="7030A0"/>
                </a:solidFill>
              </a:rPr>
              <a:t>Note:  The implementation of </a:t>
            </a:r>
            <a:r>
              <a:rPr lang="en-CA" b="1" dirty="0" err="1">
                <a:solidFill>
                  <a:srgbClr val="7030A0"/>
                </a:solidFill>
              </a:rPr>
              <a:t>doSomething</a:t>
            </a:r>
            <a:r>
              <a:rPr lang="en-CA" b="1" dirty="0">
                <a:solidFill>
                  <a:srgbClr val="7030A0"/>
                </a:solidFill>
              </a:rPr>
              <a:t>() is on the notes below.</a:t>
            </a:r>
          </a:p>
        </p:txBody>
      </p:sp>
      <p:sp>
        <p:nvSpPr>
          <p:cNvPr id="14" name="Slide Number Placeholder 13">
            <a:extLst>
              <a:ext uri="{FF2B5EF4-FFF2-40B4-BE49-F238E27FC236}">
                <a16:creationId xmlns:a16="http://schemas.microsoft.com/office/drawing/2014/main" id="{B0E5F444-E948-4EA1-B55B-4E39CA5159D4}"/>
              </a:ext>
            </a:extLst>
          </p:cNvPr>
          <p:cNvSpPr>
            <a:spLocks noGrp="1"/>
          </p:cNvSpPr>
          <p:nvPr>
            <p:ph type="sldNum" sz="quarter" idx="12"/>
          </p:nvPr>
        </p:nvSpPr>
        <p:spPr/>
        <p:txBody>
          <a:bodyPr/>
          <a:lstStyle/>
          <a:p>
            <a:fld id="{6B7CECC9-8688-4C14-9F38-24140407CAFB}" type="slidenum">
              <a:rPr lang="en-CA" smtClean="0"/>
              <a:t>19</a:t>
            </a:fld>
            <a:endParaRPr lang="en-CA"/>
          </a:p>
        </p:txBody>
      </p:sp>
    </p:spTree>
    <p:extLst>
      <p:ext uri="{BB962C8B-B14F-4D97-AF65-F5344CB8AC3E}">
        <p14:creationId xmlns:p14="http://schemas.microsoft.com/office/powerpoint/2010/main" val="860104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E5207-171C-4B7D-8DCB-4EC85B7EEC59}"/>
              </a:ext>
            </a:extLst>
          </p:cNvPr>
          <p:cNvSpPr>
            <a:spLocks noGrp="1"/>
          </p:cNvSpPr>
          <p:nvPr>
            <p:ph type="title"/>
          </p:nvPr>
        </p:nvSpPr>
        <p:spPr/>
        <p:txBody>
          <a:bodyPr/>
          <a:lstStyle/>
          <a:p>
            <a:r>
              <a:rPr lang="en-CA"/>
              <a:t>Reading a File in Node.js Asynchronously</a:t>
            </a:r>
          </a:p>
        </p:txBody>
      </p:sp>
      <p:sp>
        <p:nvSpPr>
          <p:cNvPr id="3" name="Content Placeholder 2">
            <a:extLst>
              <a:ext uri="{FF2B5EF4-FFF2-40B4-BE49-F238E27FC236}">
                <a16:creationId xmlns:a16="http://schemas.microsoft.com/office/drawing/2014/main" id="{4DCCB4AA-99CF-4DF2-BF2D-1DC6351C7F3F}"/>
              </a:ext>
            </a:extLst>
          </p:cNvPr>
          <p:cNvSpPr>
            <a:spLocks noGrp="1"/>
          </p:cNvSpPr>
          <p:nvPr>
            <p:ph idx="1"/>
          </p:nvPr>
        </p:nvSpPr>
        <p:spPr/>
        <p:txBody>
          <a:bodyPr/>
          <a:lstStyle/>
          <a:p>
            <a:r>
              <a:rPr lang="en-CA"/>
              <a:t>A practical example ~</a:t>
            </a:r>
          </a:p>
        </p:txBody>
      </p:sp>
      <p:sp>
        <p:nvSpPr>
          <p:cNvPr id="4" name="Text Box 1033">
            <a:extLst>
              <a:ext uri="{FF2B5EF4-FFF2-40B4-BE49-F238E27FC236}">
                <a16:creationId xmlns:a16="http://schemas.microsoft.com/office/drawing/2014/main" id="{7DD1FBC1-DF61-4FED-8EF4-EA03978FF78F}"/>
              </a:ext>
            </a:extLst>
          </p:cNvPr>
          <p:cNvSpPr txBox="1">
            <a:spLocks noChangeArrowheads="1"/>
          </p:cNvSpPr>
          <p:nvPr/>
        </p:nvSpPr>
        <p:spPr bwMode="auto">
          <a:xfrm>
            <a:off x="2638556" y="2483644"/>
            <a:ext cx="8070475" cy="369331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const fs = require('fs').promises;</a:t>
            </a:r>
          </a:p>
          <a:p>
            <a:pPr marL="0" marR="0" lvl="0" indent="0" defTabSz="914400" eaLnBrk="0" fontAlgn="base" latinLnBrk="0" hangingPunct="0">
              <a:lnSpc>
                <a:spcPct val="100000"/>
              </a:lnSpc>
              <a:spcBef>
                <a:spcPct val="0"/>
              </a:spcBef>
              <a:spcAft>
                <a:spcPct val="0"/>
              </a:spcAft>
              <a:buClrTx/>
              <a:buSzTx/>
              <a:buFontTx/>
              <a:buNone/>
              <a:tabLst/>
              <a:defRPr/>
            </a:pPr>
            <a:endParaRPr kumimoji="1" lang="en-US" altLang="en-US" sz="1800" b="1" kern="0" dirty="0">
              <a:solidFill>
                <a:schemeClr val="tx1"/>
              </a:solidFill>
              <a:latin typeface="Courier New" panose="02070309020205020404" pitchFamily="49"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FF0000"/>
                </a:solidFill>
                <a:latin typeface="Courier New" panose="02070309020205020404" pitchFamily="49" charset="0"/>
              </a:rPr>
              <a:t>async</a:t>
            </a:r>
            <a:r>
              <a:rPr kumimoji="1" lang="en-US" altLang="en-US" sz="1800" b="1" kern="0" dirty="0">
                <a:solidFill>
                  <a:schemeClr val="tx1"/>
                </a:solidFill>
                <a:latin typeface="Courier New" panose="02070309020205020404" pitchFamily="49" charset="0"/>
              </a:rPr>
              <a:t> function </a:t>
            </a:r>
            <a:r>
              <a:rPr kumimoji="1" lang="en-US" altLang="en-US" sz="1800" b="1" kern="0" dirty="0" err="1">
                <a:solidFill>
                  <a:schemeClr val="tx1"/>
                </a:solidFill>
                <a:latin typeface="Courier New" panose="02070309020205020404" pitchFamily="49" charset="0"/>
              </a:rPr>
              <a:t>readTxtFile</a:t>
            </a:r>
            <a:r>
              <a:rPr kumimoji="1" lang="en-US" altLang="en-US" sz="1800" b="1" kern="0" dirty="0">
                <a:solidFill>
                  <a:schemeClr val="tx1"/>
                </a:solidFill>
                <a:latin typeface="Courier New" panose="02070309020205020404" pitchFamily="49" charset="0"/>
              </a:rPr>
              <a:t>()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let data;</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try {</a:t>
            </a:r>
          </a:p>
          <a:p>
            <a:pPr marL="0" marR="0" lvl="0" indent="0" defTabSz="914400" eaLnBrk="0" fontAlgn="base" latinLnBrk="0" hangingPunct="0">
              <a:lnSpc>
                <a:spcPct val="100000"/>
              </a:lnSpc>
              <a:spcBef>
                <a:spcPct val="0"/>
              </a:spcBef>
              <a:spcAft>
                <a:spcPct val="0"/>
              </a:spcAft>
              <a:buClrTx/>
              <a:buSzTx/>
              <a:buFontTx/>
              <a:buNone/>
              <a:tabLst/>
              <a:defRPr/>
            </a:pPr>
            <a:endParaRPr kumimoji="1" lang="en-US" altLang="en-US" sz="1800" b="1" kern="0" dirty="0">
              <a:solidFill>
                <a:schemeClr val="tx1"/>
              </a:solidFill>
              <a:latin typeface="Courier New" panose="02070309020205020404" pitchFamily="49"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data = </a:t>
            </a:r>
            <a:r>
              <a:rPr kumimoji="1" lang="en-US" altLang="en-US" sz="1800" b="1" kern="0" dirty="0">
                <a:solidFill>
                  <a:srgbClr val="FF0000"/>
                </a:solidFill>
                <a:latin typeface="Courier New" panose="02070309020205020404" pitchFamily="49" charset="0"/>
              </a:rPr>
              <a:t>await</a:t>
            </a:r>
            <a:r>
              <a:rPr kumimoji="1" lang="en-US" altLang="en-US" sz="1800" b="1" kern="0" dirty="0">
                <a:solidFill>
                  <a:schemeClr val="tx1"/>
                </a:solidFill>
                <a:latin typeface="Courier New" panose="02070309020205020404" pitchFamily="49" charset="0"/>
              </a:rPr>
              <a:t> </a:t>
            </a:r>
            <a:r>
              <a:rPr kumimoji="1" lang="en-US" altLang="en-US" sz="1800" b="1" kern="0" dirty="0" err="1">
                <a:solidFill>
                  <a:schemeClr val="tx1"/>
                </a:solidFill>
                <a:latin typeface="Courier New" panose="02070309020205020404" pitchFamily="49" charset="0"/>
              </a:rPr>
              <a:t>fs.readFile</a:t>
            </a:r>
            <a:r>
              <a:rPr kumimoji="1" lang="en-US" altLang="en-US" sz="1800" b="1" kern="0" dirty="0">
                <a:solidFill>
                  <a:schemeClr val="tx1"/>
                </a:solidFill>
                <a:latin typeface="Courier New" panose="02070309020205020404" pitchFamily="49" charset="0"/>
              </a:rPr>
              <a:t>("hello.txt", "binary");</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console.log(data);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 catch(error)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console.log(error);</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    }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chemeClr val="tx1"/>
                </a:solidFill>
                <a:latin typeface="Courier New" panose="02070309020205020404" pitchFamily="49"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err="1">
                <a:solidFill>
                  <a:schemeClr val="tx1"/>
                </a:solidFill>
                <a:latin typeface="Courier New" panose="02070309020205020404" pitchFamily="49" charset="0"/>
              </a:rPr>
              <a:t>readTxtFile</a:t>
            </a:r>
            <a:r>
              <a:rPr kumimoji="1" lang="en-US" altLang="en-US" sz="1800" b="1" kern="0" dirty="0">
                <a:solidFill>
                  <a:schemeClr val="tx1"/>
                </a:solidFill>
                <a:latin typeface="Courier New" panose="02070309020205020404" pitchFamily="49" charset="0"/>
              </a:rPr>
              <a:t>();</a:t>
            </a:r>
            <a:endParaRPr kumimoji="1" lang="en-US" altLang="en-US" sz="1800" b="1" i="0" u="none" strike="noStrike" kern="0" cap="none" spc="0" normalizeH="0" baseline="0" noProof="0" dirty="0">
              <a:ln>
                <a:noFill/>
              </a:ln>
              <a:solidFill>
                <a:schemeClr val="tx1"/>
              </a:solidFill>
              <a:effectLst/>
              <a:uLnTx/>
              <a:uFillTx/>
              <a:latin typeface="Courier New" panose="02070309020205020404" pitchFamily="49" charset="0"/>
            </a:endParaRPr>
          </a:p>
        </p:txBody>
      </p:sp>
      <p:sp>
        <p:nvSpPr>
          <p:cNvPr id="5" name="Arrow: Left 4">
            <a:extLst>
              <a:ext uri="{FF2B5EF4-FFF2-40B4-BE49-F238E27FC236}">
                <a16:creationId xmlns:a16="http://schemas.microsoft.com/office/drawing/2014/main" id="{97DA487B-6CD0-4FF9-8232-CE7927464B99}"/>
              </a:ext>
            </a:extLst>
          </p:cNvPr>
          <p:cNvSpPr/>
          <p:nvPr/>
        </p:nvSpPr>
        <p:spPr>
          <a:xfrm rot="10800000">
            <a:off x="2673726" y="3681030"/>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2A055166-A3FA-4DA7-BC9E-C0AD999419EE}"/>
              </a:ext>
            </a:extLst>
          </p:cNvPr>
          <p:cNvSpPr txBox="1"/>
          <p:nvPr/>
        </p:nvSpPr>
        <p:spPr>
          <a:xfrm>
            <a:off x="931615" y="3545721"/>
            <a:ext cx="2241631" cy="923330"/>
          </a:xfrm>
          <a:prstGeom prst="rect">
            <a:avLst/>
          </a:prstGeom>
          <a:noFill/>
        </p:spPr>
        <p:txBody>
          <a:bodyPr wrap="square" rtlCol="0">
            <a:spAutoFit/>
          </a:bodyPr>
          <a:lstStyle/>
          <a:p>
            <a:r>
              <a:rPr lang="en-CA" b="1">
                <a:solidFill>
                  <a:srgbClr val="FF0000"/>
                </a:solidFill>
              </a:rPr>
              <a:t>await operator </a:t>
            </a:r>
          </a:p>
          <a:p>
            <a:r>
              <a:rPr lang="en-CA" b="1">
                <a:solidFill>
                  <a:srgbClr val="FF0000"/>
                </a:solidFill>
              </a:rPr>
              <a:t>must be within try/catch block</a:t>
            </a:r>
          </a:p>
        </p:txBody>
      </p:sp>
      <p:sp>
        <p:nvSpPr>
          <p:cNvPr id="7" name="Arrow: Left 6">
            <a:extLst>
              <a:ext uri="{FF2B5EF4-FFF2-40B4-BE49-F238E27FC236}">
                <a16:creationId xmlns:a16="http://schemas.microsoft.com/office/drawing/2014/main" id="{A65811AF-1EF5-4F66-81B8-4444B282F2CF}"/>
              </a:ext>
            </a:extLst>
          </p:cNvPr>
          <p:cNvSpPr/>
          <p:nvPr/>
        </p:nvSpPr>
        <p:spPr>
          <a:xfrm rot="16200000">
            <a:off x="6562512" y="3757919"/>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2A28083E-9A6F-4305-A9F9-D1DD810F6970}"/>
              </a:ext>
            </a:extLst>
          </p:cNvPr>
          <p:cNvSpPr txBox="1"/>
          <p:nvPr/>
        </p:nvSpPr>
        <p:spPr>
          <a:xfrm>
            <a:off x="7197959" y="3471288"/>
            <a:ext cx="2241631" cy="646331"/>
          </a:xfrm>
          <a:prstGeom prst="rect">
            <a:avLst/>
          </a:prstGeom>
          <a:noFill/>
        </p:spPr>
        <p:txBody>
          <a:bodyPr wrap="square" rtlCol="0">
            <a:spAutoFit/>
          </a:bodyPr>
          <a:lstStyle/>
          <a:p>
            <a:r>
              <a:rPr lang="en-CA" b="1">
                <a:solidFill>
                  <a:srgbClr val="FF0000"/>
                </a:solidFill>
              </a:rPr>
              <a:t>Function that returns a promise object</a:t>
            </a:r>
          </a:p>
        </p:txBody>
      </p:sp>
      <p:sp>
        <p:nvSpPr>
          <p:cNvPr id="9" name="Arrow: Left 8">
            <a:extLst>
              <a:ext uri="{FF2B5EF4-FFF2-40B4-BE49-F238E27FC236}">
                <a16:creationId xmlns:a16="http://schemas.microsoft.com/office/drawing/2014/main" id="{65E62BFD-CAE9-48DB-95F1-497A9C65505B}"/>
              </a:ext>
            </a:extLst>
          </p:cNvPr>
          <p:cNvSpPr/>
          <p:nvPr/>
        </p:nvSpPr>
        <p:spPr>
          <a:xfrm rot="10800000">
            <a:off x="2176891" y="3122512"/>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1E35F82E-DD1B-4FE9-A105-35406BCEF8DF}"/>
              </a:ext>
            </a:extLst>
          </p:cNvPr>
          <p:cNvSpPr txBox="1"/>
          <p:nvPr/>
        </p:nvSpPr>
        <p:spPr>
          <a:xfrm>
            <a:off x="1419900" y="2570380"/>
            <a:ext cx="1225299" cy="646331"/>
          </a:xfrm>
          <a:prstGeom prst="rect">
            <a:avLst/>
          </a:prstGeom>
          <a:noFill/>
        </p:spPr>
        <p:txBody>
          <a:bodyPr wrap="square" rtlCol="0">
            <a:spAutoFit/>
          </a:bodyPr>
          <a:lstStyle/>
          <a:p>
            <a:r>
              <a:rPr lang="en-CA" b="1">
                <a:solidFill>
                  <a:srgbClr val="FF0000"/>
                </a:solidFill>
              </a:rPr>
              <a:t>async </a:t>
            </a:r>
          </a:p>
          <a:p>
            <a:r>
              <a:rPr lang="en-CA" b="1">
                <a:solidFill>
                  <a:srgbClr val="FF0000"/>
                </a:solidFill>
              </a:rPr>
              <a:t>keyword</a:t>
            </a:r>
          </a:p>
        </p:txBody>
      </p:sp>
      <p:sp>
        <p:nvSpPr>
          <p:cNvPr id="11" name="Arrow: Left 10">
            <a:extLst>
              <a:ext uri="{FF2B5EF4-FFF2-40B4-BE49-F238E27FC236}">
                <a16:creationId xmlns:a16="http://schemas.microsoft.com/office/drawing/2014/main" id="{F7479ACD-2551-45E6-B53D-6E181A205A10}"/>
              </a:ext>
            </a:extLst>
          </p:cNvPr>
          <p:cNvSpPr/>
          <p:nvPr/>
        </p:nvSpPr>
        <p:spPr>
          <a:xfrm rot="16200000">
            <a:off x="4830244" y="3818821"/>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4BBCF7ED-3B94-4C46-A144-E4E36B21DE6D}"/>
              </a:ext>
            </a:extLst>
          </p:cNvPr>
          <p:cNvSpPr txBox="1"/>
          <p:nvPr/>
        </p:nvSpPr>
        <p:spPr>
          <a:xfrm>
            <a:off x="5170098" y="3312420"/>
            <a:ext cx="1092233" cy="646331"/>
          </a:xfrm>
          <a:prstGeom prst="rect">
            <a:avLst/>
          </a:prstGeom>
          <a:noFill/>
        </p:spPr>
        <p:txBody>
          <a:bodyPr wrap="square" rtlCol="0">
            <a:spAutoFit/>
          </a:bodyPr>
          <a:lstStyle/>
          <a:p>
            <a:r>
              <a:rPr lang="en-CA" b="1">
                <a:solidFill>
                  <a:srgbClr val="FF0000"/>
                </a:solidFill>
              </a:rPr>
              <a:t>await </a:t>
            </a:r>
          </a:p>
          <a:p>
            <a:r>
              <a:rPr lang="en-CA" b="1">
                <a:solidFill>
                  <a:srgbClr val="FF0000"/>
                </a:solidFill>
              </a:rPr>
              <a:t>operator</a:t>
            </a:r>
          </a:p>
        </p:txBody>
      </p:sp>
      <p:sp>
        <p:nvSpPr>
          <p:cNvPr id="13" name="Arrow: Left 12">
            <a:extLst>
              <a:ext uri="{FF2B5EF4-FFF2-40B4-BE49-F238E27FC236}">
                <a16:creationId xmlns:a16="http://schemas.microsoft.com/office/drawing/2014/main" id="{E210FA85-C91B-4D4F-909D-2881E643F3CA}"/>
              </a:ext>
            </a:extLst>
          </p:cNvPr>
          <p:cNvSpPr/>
          <p:nvPr/>
        </p:nvSpPr>
        <p:spPr>
          <a:xfrm>
            <a:off x="4922930" y="5796216"/>
            <a:ext cx="461665" cy="25773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2ADC97C2-B92F-4F33-9665-9417F539F689}"/>
              </a:ext>
            </a:extLst>
          </p:cNvPr>
          <p:cNvSpPr txBox="1"/>
          <p:nvPr/>
        </p:nvSpPr>
        <p:spPr>
          <a:xfrm>
            <a:off x="5716214" y="5704811"/>
            <a:ext cx="3827409" cy="369332"/>
          </a:xfrm>
          <a:prstGeom prst="rect">
            <a:avLst/>
          </a:prstGeom>
          <a:noFill/>
        </p:spPr>
        <p:txBody>
          <a:bodyPr wrap="square" rtlCol="0">
            <a:spAutoFit/>
          </a:bodyPr>
          <a:lstStyle/>
          <a:p>
            <a:r>
              <a:rPr lang="en-CA" b="1">
                <a:solidFill>
                  <a:srgbClr val="FF0000"/>
                </a:solidFill>
              </a:rPr>
              <a:t>Invoke </a:t>
            </a:r>
            <a:r>
              <a:rPr lang="en-CA" b="1" err="1">
                <a:solidFill>
                  <a:srgbClr val="FF0000"/>
                </a:solidFill>
              </a:rPr>
              <a:t>readTxtFile</a:t>
            </a:r>
            <a:r>
              <a:rPr lang="en-CA" b="1">
                <a:solidFill>
                  <a:srgbClr val="FF0000"/>
                </a:solidFill>
              </a:rPr>
              <a:t>()  async function</a:t>
            </a:r>
          </a:p>
        </p:txBody>
      </p:sp>
      <p:sp>
        <p:nvSpPr>
          <p:cNvPr id="15" name="TextBox 14">
            <a:extLst>
              <a:ext uri="{FF2B5EF4-FFF2-40B4-BE49-F238E27FC236}">
                <a16:creationId xmlns:a16="http://schemas.microsoft.com/office/drawing/2014/main" id="{5571423A-69C8-44F5-90CF-42E737A75363}"/>
              </a:ext>
            </a:extLst>
          </p:cNvPr>
          <p:cNvSpPr txBox="1"/>
          <p:nvPr/>
        </p:nvSpPr>
        <p:spPr>
          <a:xfrm>
            <a:off x="6884994" y="3563446"/>
            <a:ext cx="495025" cy="461665"/>
          </a:xfrm>
          <a:prstGeom prst="rect">
            <a:avLst/>
          </a:prstGeom>
          <a:noFill/>
        </p:spPr>
        <p:txBody>
          <a:bodyPr wrap="square" rtlCol="0">
            <a:spAutoFit/>
          </a:bodyPr>
          <a:lstStyle/>
          <a:p>
            <a:r>
              <a:rPr lang="en-CA" sz="2400" b="1">
                <a:solidFill>
                  <a:srgbClr val="FF0000"/>
                </a:solidFill>
              </a:rPr>
              <a:t>1</a:t>
            </a:r>
          </a:p>
        </p:txBody>
      </p:sp>
      <p:sp>
        <p:nvSpPr>
          <p:cNvPr id="16" name="TextBox 15">
            <a:extLst>
              <a:ext uri="{FF2B5EF4-FFF2-40B4-BE49-F238E27FC236}">
                <a16:creationId xmlns:a16="http://schemas.microsoft.com/office/drawing/2014/main" id="{984542B9-70BB-482B-9304-86DE3CC3348D}"/>
              </a:ext>
            </a:extLst>
          </p:cNvPr>
          <p:cNvSpPr txBox="1"/>
          <p:nvPr/>
        </p:nvSpPr>
        <p:spPr>
          <a:xfrm>
            <a:off x="4920656" y="3297320"/>
            <a:ext cx="495025" cy="461665"/>
          </a:xfrm>
          <a:prstGeom prst="rect">
            <a:avLst/>
          </a:prstGeom>
          <a:noFill/>
        </p:spPr>
        <p:txBody>
          <a:bodyPr wrap="square" rtlCol="0">
            <a:spAutoFit/>
          </a:bodyPr>
          <a:lstStyle/>
          <a:p>
            <a:r>
              <a:rPr lang="en-CA" sz="2400" b="1">
                <a:solidFill>
                  <a:srgbClr val="FF0000"/>
                </a:solidFill>
              </a:rPr>
              <a:t>2</a:t>
            </a:r>
          </a:p>
        </p:txBody>
      </p:sp>
      <p:sp>
        <p:nvSpPr>
          <p:cNvPr id="17" name="TextBox 16">
            <a:extLst>
              <a:ext uri="{FF2B5EF4-FFF2-40B4-BE49-F238E27FC236}">
                <a16:creationId xmlns:a16="http://schemas.microsoft.com/office/drawing/2014/main" id="{FAF382E4-A8B9-4603-A072-2E749ABD133E}"/>
              </a:ext>
            </a:extLst>
          </p:cNvPr>
          <p:cNvSpPr txBox="1"/>
          <p:nvPr/>
        </p:nvSpPr>
        <p:spPr>
          <a:xfrm>
            <a:off x="617403" y="3744756"/>
            <a:ext cx="495025" cy="461665"/>
          </a:xfrm>
          <a:prstGeom prst="rect">
            <a:avLst/>
          </a:prstGeom>
          <a:noFill/>
        </p:spPr>
        <p:txBody>
          <a:bodyPr wrap="square" rtlCol="0">
            <a:spAutoFit/>
          </a:bodyPr>
          <a:lstStyle/>
          <a:p>
            <a:r>
              <a:rPr lang="en-CA" sz="2400" b="1">
                <a:solidFill>
                  <a:srgbClr val="FF0000"/>
                </a:solidFill>
              </a:rPr>
              <a:t>3</a:t>
            </a:r>
          </a:p>
        </p:txBody>
      </p:sp>
      <p:sp>
        <p:nvSpPr>
          <p:cNvPr id="18" name="TextBox 17">
            <a:extLst>
              <a:ext uri="{FF2B5EF4-FFF2-40B4-BE49-F238E27FC236}">
                <a16:creationId xmlns:a16="http://schemas.microsoft.com/office/drawing/2014/main" id="{1A42BCEC-8F4F-4F58-A406-1D32D544AAF2}"/>
              </a:ext>
            </a:extLst>
          </p:cNvPr>
          <p:cNvSpPr txBox="1"/>
          <p:nvPr/>
        </p:nvSpPr>
        <p:spPr>
          <a:xfrm>
            <a:off x="1132955" y="2688719"/>
            <a:ext cx="495025" cy="461665"/>
          </a:xfrm>
          <a:prstGeom prst="rect">
            <a:avLst/>
          </a:prstGeom>
          <a:noFill/>
        </p:spPr>
        <p:txBody>
          <a:bodyPr wrap="square" rtlCol="0">
            <a:spAutoFit/>
          </a:bodyPr>
          <a:lstStyle/>
          <a:p>
            <a:r>
              <a:rPr lang="en-CA" sz="2400" b="1">
                <a:solidFill>
                  <a:srgbClr val="FF0000"/>
                </a:solidFill>
              </a:rPr>
              <a:t>4</a:t>
            </a:r>
          </a:p>
        </p:txBody>
      </p:sp>
      <p:sp>
        <p:nvSpPr>
          <p:cNvPr id="19" name="TextBox 18">
            <a:extLst>
              <a:ext uri="{FF2B5EF4-FFF2-40B4-BE49-F238E27FC236}">
                <a16:creationId xmlns:a16="http://schemas.microsoft.com/office/drawing/2014/main" id="{3823B41D-24C4-41F7-B2EF-6A96B43B8647}"/>
              </a:ext>
            </a:extLst>
          </p:cNvPr>
          <p:cNvSpPr txBox="1"/>
          <p:nvPr/>
        </p:nvSpPr>
        <p:spPr>
          <a:xfrm>
            <a:off x="5459467" y="5638451"/>
            <a:ext cx="495025" cy="461665"/>
          </a:xfrm>
          <a:prstGeom prst="rect">
            <a:avLst/>
          </a:prstGeom>
          <a:noFill/>
        </p:spPr>
        <p:txBody>
          <a:bodyPr wrap="square" rtlCol="0">
            <a:spAutoFit/>
          </a:bodyPr>
          <a:lstStyle/>
          <a:p>
            <a:r>
              <a:rPr lang="en-CA" sz="2400" b="1">
                <a:solidFill>
                  <a:srgbClr val="FF0000"/>
                </a:solidFill>
              </a:rPr>
              <a:t>5</a:t>
            </a:r>
          </a:p>
        </p:txBody>
      </p:sp>
      <p:sp>
        <p:nvSpPr>
          <p:cNvPr id="20" name="Slide Number Placeholder 19">
            <a:extLst>
              <a:ext uri="{FF2B5EF4-FFF2-40B4-BE49-F238E27FC236}">
                <a16:creationId xmlns:a16="http://schemas.microsoft.com/office/drawing/2014/main" id="{88C45B7E-A3B1-4079-9F43-67006A15DA65}"/>
              </a:ext>
            </a:extLst>
          </p:cNvPr>
          <p:cNvSpPr>
            <a:spLocks noGrp="1"/>
          </p:cNvSpPr>
          <p:nvPr>
            <p:ph type="sldNum" sz="quarter" idx="12"/>
          </p:nvPr>
        </p:nvSpPr>
        <p:spPr/>
        <p:txBody>
          <a:bodyPr/>
          <a:lstStyle/>
          <a:p>
            <a:fld id="{6B7CECC9-8688-4C14-9F38-24140407CAFB}" type="slidenum">
              <a:rPr lang="en-CA" smtClean="0"/>
              <a:t>20</a:t>
            </a:fld>
            <a:endParaRPr lang="en-CA"/>
          </a:p>
        </p:txBody>
      </p:sp>
    </p:spTree>
    <p:extLst>
      <p:ext uri="{BB962C8B-B14F-4D97-AF65-F5344CB8AC3E}">
        <p14:creationId xmlns:p14="http://schemas.microsoft.com/office/powerpoint/2010/main" val="3643714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3123</Words>
  <Application>Microsoft Office PowerPoint</Application>
  <PresentationFormat>Widescreen</PresentationFormat>
  <Paragraphs>525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Courier New</vt:lpstr>
      <vt:lpstr>Office Theme</vt:lpstr>
      <vt:lpstr>Asynchronous JavaScript</vt:lpstr>
      <vt:lpstr>Asynchronous JS</vt:lpstr>
      <vt:lpstr>Synchronous vs Asynchronous</vt:lpstr>
      <vt:lpstr>Synchronous Execution</vt:lpstr>
      <vt:lpstr>Asynchronous Execution</vt:lpstr>
      <vt:lpstr>Revisiting setTimeout() Method</vt:lpstr>
      <vt:lpstr>Callback Function – Another Example</vt:lpstr>
      <vt:lpstr>Promise</vt:lpstr>
      <vt:lpstr>Creating a Promise Object</vt:lpstr>
      <vt:lpstr>Handling a Promise Object Using then()</vt:lpstr>
      <vt:lpstr>Handling a Promise Object Using then()/catch()</vt:lpstr>
      <vt:lpstr>Two Code Behaves the Same !</vt:lpstr>
      <vt:lpstr>Handling a Promise Object – Fat Arrows</vt:lpstr>
      <vt:lpstr>Function Returning a Promise</vt:lpstr>
      <vt:lpstr>Chained Promise – Scenario 1</vt:lpstr>
      <vt:lpstr>Chained Promise – Scenario 2</vt:lpstr>
      <vt:lpstr>Async Function in JavaScript</vt:lpstr>
      <vt:lpstr>Async Function in JavaScript</vt:lpstr>
      <vt:lpstr>Async Function in JS – An Example</vt:lpstr>
      <vt:lpstr>Reading a File in Node.js Asynchronously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Edna Dela Paz</dc:creator>
  <cp:lastModifiedBy>Edna Dela Paz</cp:lastModifiedBy>
  <cp:revision>1</cp:revision>
  <dcterms:created xsi:type="dcterms:W3CDTF">2026-10-02T00:22:46Z</dcterms:created>
  <dcterms:modified xsi:type="dcterms:W3CDTF">2026-10-02T00:25:14Z</dcterms:modified>
</cp:coreProperties>
</file>